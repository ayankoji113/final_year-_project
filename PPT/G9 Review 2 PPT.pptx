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2" r:id="rId10"/>
    <p:sldId id="264" r:id="rId11"/>
    <p:sldId id="265" r:id="rId12"/>
    <p:sldId id="267" r:id="rId13"/>
    <p:sldId id="283" r:id="rId14"/>
    <p:sldId id="269" r:id="rId15"/>
    <p:sldId id="272" r:id="rId16"/>
    <p:sldId id="276" r:id="rId17"/>
    <p:sldId id="278" r:id="rId18"/>
    <p:sldId id="279" r:id="rId19"/>
    <p:sldId id="28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Bb7nSYj2C9Uw9Itg3tTdv/kBU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228378-A3B1-45D4-85F1-4D30564C2EE7}">
  <a:tblStyle styleId="{2F228378-A3B1-45D4-85F1-4D30564C2E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CEC"/>
          </a:solidFill>
        </a:fill>
      </a:tcStyle>
    </a:wholeTbl>
    <a:band1H>
      <a:tcTxStyle/>
      <a:tcStyle>
        <a:tcBdr/>
        <a:fill>
          <a:solidFill>
            <a:srgbClr val="D6D6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6D6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6F92B8-07A3-4997-A2C9-3380827874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>
            <a:spLocks noGrp="1"/>
          </p:cNvSpPr>
          <p:nvPr>
            <p:ph type="subTitle" idx="1"/>
          </p:nvPr>
        </p:nvSpPr>
        <p:spPr>
          <a:xfrm>
            <a:off x="1045028" y="1621321"/>
            <a:ext cx="7195930" cy="2852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Guard: Real-Time API Anomaly Detection Using ML &amp; DL</a:t>
            </a:r>
            <a:r>
              <a:rPr lang="en-US" sz="1500" b="1" u="sng" dirty="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ts val="1800"/>
              <a:buNone/>
            </a:pPr>
            <a:r>
              <a:rPr lang="en-US" sz="16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II</a:t>
            </a:r>
            <a:endParaRPr lang="en-US" sz="1600" dirty="0"/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600" dirty="0"/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Sunny Nirmal     [BTech ITC32]</a:t>
            </a: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Tausib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Patel       [BTech ITC37]</a:t>
            </a: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Yash Patil           [BTech ITC54]</a:t>
            </a:r>
            <a:endParaRPr lang="en-GB" sz="1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dirty="0"/>
              <a:t>                                         </a:t>
            </a:r>
            <a:endParaRPr lang="en-IN" dirty="0"/>
          </a:p>
          <a:p>
            <a:pPr marL="0" lvl="0" indent="0">
              <a:lnSpc>
                <a:spcPct val="150000"/>
              </a:lnSpc>
            </a:pPr>
            <a:r>
              <a:rPr lang="en-IN" sz="1400" b="1" dirty="0">
                <a:latin typeface="Times New Roman"/>
                <a:ea typeface="Times New Roman"/>
                <a:cs typeface="Times New Roman"/>
                <a:sym typeface="Times New Roman"/>
              </a:rPr>
              <a:t>       Guided by: </a:t>
            </a: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Mrs.Priyanka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kumbhar</a:t>
            </a:r>
            <a:endParaRPr lang="en-IN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1"/>
          <p:cNvGrpSpPr/>
          <p:nvPr/>
        </p:nvGrpSpPr>
        <p:grpSpPr>
          <a:xfrm>
            <a:off x="719875" y="168025"/>
            <a:ext cx="7583730" cy="1284264"/>
            <a:chOff x="0" y="0"/>
            <a:chExt cx="6819901" cy="967576"/>
          </a:xfrm>
        </p:grpSpPr>
        <p:sp>
          <p:nvSpPr>
            <p:cNvPr id="131" name="Google Shape;131;p1"/>
            <p:cNvSpPr txBox="1"/>
            <p:nvPr/>
          </p:nvSpPr>
          <p:spPr>
            <a:xfrm>
              <a:off x="171450" y="748501"/>
              <a:ext cx="6467475" cy="2190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  --------------------------------------------------------------------------------------------------------------------------------------------------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1"/>
            <p:cNvGrpSpPr/>
            <p:nvPr/>
          </p:nvGrpSpPr>
          <p:grpSpPr>
            <a:xfrm>
              <a:off x="0" y="0"/>
              <a:ext cx="6819901" cy="967575"/>
              <a:chOff x="0" y="0"/>
              <a:chExt cx="6819901" cy="967575"/>
            </a:xfrm>
          </p:grpSpPr>
          <p:sp>
            <p:nvSpPr>
              <p:cNvPr id="133" name="Google Shape;133;p1"/>
              <p:cNvSpPr txBox="1"/>
              <p:nvPr/>
            </p:nvSpPr>
            <p:spPr>
              <a:xfrm>
                <a:off x="693759" y="95249"/>
                <a:ext cx="6126142" cy="8723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 H Raisoni College of Engineering &amp; Management, Pune</a:t>
                </a:r>
                <a:endParaRPr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1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(An Empowered Autonomous Institute Affiliated to Savitribai Phule Pune University)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Department of Information Technology</a:t>
                </a:r>
                <a:endParaRPr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4" name="Google Shape;134;p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0"/>
                <a:ext cx="1310387" cy="8382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57" y="4203524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>
            <a:spLocks noGrp="1"/>
          </p:cNvSpPr>
          <p:nvPr>
            <p:ph type="title"/>
          </p:nvPr>
        </p:nvSpPr>
        <p:spPr>
          <a:xfrm>
            <a:off x="271811" y="-23045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2400"/>
          </a:p>
        </p:txBody>
      </p:sp>
      <p:sp>
        <p:nvSpPr>
          <p:cNvPr id="141" name="Google Shape;141;p2"/>
          <p:cNvSpPr txBox="1">
            <a:spLocks noGrp="1"/>
          </p:cNvSpPr>
          <p:nvPr>
            <p:ph type="body" idx="1"/>
          </p:nvPr>
        </p:nvSpPr>
        <p:spPr>
          <a:xfrm>
            <a:off x="873977" y="425081"/>
            <a:ext cx="7886700" cy="463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3853" indent="-342900">
              <a:spcBef>
                <a:spcPts val="0"/>
              </a:spcBef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Existing System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Block Diagram/ Architecture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Software and Hardware Requirements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Implementation (60%)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Obtained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BCE68-B0C5-6C4C-5318-857883A31D8D}"/>
              </a:ext>
            </a:extLst>
          </p:cNvPr>
          <p:cNvSpPr txBox="1"/>
          <p:nvPr/>
        </p:nvSpPr>
        <p:spPr>
          <a:xfrm>
            <a:off x="315486" y="1110329"/>
            <a:ext cx="8513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deployable API security gateway designed to detect anomalous API traffic using a learned stacking ensemble model. Unlike traditional API gateways that rely only on rate limiting or signature-based detection, the proposed system performs three parallel stages of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Rate Limiter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(Machine Learning)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Autoencoder (Deep Learning) 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outputs of these detectors are combined using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stacking 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requests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near real-time detection with minimal latency.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live visualization of alerts and model predictions, while a calibration phase allows deployment across different REST-based applications without retraining.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>
            <a:spLocks noGrp="1"/>
          </p:cNvSpPr>
          <p:nvPr>
            <p:ph type="title"/>
          </p:nvPr>
        </p:nvSpPr>
        <p:spPr>
          <a:xfrm>
            <a:off x="628650" y="5796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4"/>
          <p:cNvSpPr txBox="1">
            <a:spLocks noGrp="1"/>
          </p:cNvSpPr>
          <p:nvPr>
            <p:ph type="body" idx="1"/>
          </p:nvPr>
        </p:nvSpPr>
        <p:spPr>
          <a:xfrm>
            <a:off x="532250" y="769640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1778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63933-14D0-47D2-FB02-5B0BC2AA893A}"/>
              </a:ext>
            </a:extLst>
          </p:cNvPr>
          <p:cNvSpPr txBox="1"/>
          <p:nvPr/>
        </p:nvSpPr>
        <p:spPr>
          <a:xfrm>
            <a:off x="628650" y="847120"/>
            <a:ext cx="76938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Modern applications are increasingly built using </a:t>
            </a:r>
            <a:r>
              <a:rPr lang="en-IN" sz="1400" b="1" dirty="0"/>
              <a:t>microservice architectures</a:t>
            </a:r>
            <a:r>
              <a:rPr lang="en-IN" sz="1400" dirty="0"/>
              <a:t>, where services communicate through </a:t>
            </a:r>
            <a:r>
              <a:rPr lang="en-IN" sz="1400" b="1" dirty="0"/>
              <a:t>REST APIs</a:t>
            </a:r>
            <a:r>
              <a:rPr lang="en-IN" sz="1400" dirty="0"/>
              <a:t>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As the number of exposed APIs grows, the </a:t>
            </a:r>
            <a:r>
              <a:rPr lang="en-IN" sz="1400" b="1" dirty="0"/>
              <a:t>attack surface also increases</a:t>
            </a:r>
            <a:r>
              <a:rPr lang="en-IN" sz="1400" dirty="0"/>
              <a:t>, making APIs a major target for cyberattacks.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Traditional security mechanisms such as </a:t>
            </a:r>
            <a:r>
              <a:rPr lang="en-IN" sz="1400" b="1" dirty="0"/>
              <a:t>API Gateways, Web Application Firewalls (WAFs), and static rate-limiting</a:t>
            </a:r>
            <a:r>
              <a:rPr lang="en-IN" sz="1400" dirty="0"/>
              <a:t> rely on predefined rules and struggle to detect unknown or evolving threats.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Machine Learning techniques like </a:t>
            </a:r>
            <a:r>
              <a:rPr lang="en-IN" sz="1400" b="1" dirty="0"/>
              <a:t>Isolation Forest</a:t>
            </a:r>
            <a:r>
              <a:rPr lang="en-IN" sz="1400" dirty="0"/>
              <a:t> and Deep Learning models such as </a:t>
            </a:r>
            <a:r>
              <a:rPr lang="en-IN" sz="1400" b="1" dirty="0"/>
              <a:t>Autoencoders</a:t>
            </a:r>
            <a:r>
              <a:rPr lang="en-IN" sz="1400" dirty="0"/>
              <a:t> can identify abnormal API </a:t>
            </a:r>
            <a:r>
              <a:rPr lang="en-IN" sz="1400" dirty="0" err="1"/>
              <a:t>behavior</a:t>
            </a:r>
            <a:r>
              <a:rPr lang="en-IN" sz="1400" dirty="0"/>
              <a:t> by learning traffic patterns instead of depending on fixed signatures.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/>
              <a:t> Guard</a:t>
            </a:r>
            <a:r>
              <a:rPr lang="en-IN" sz="1400" dirty="0"/>
              <a:t> is proposed as an intelligent API Security Gateway that combines </a:t>
            </a:r>
            <a:r>
              <a:rPr lang="en-IN" sz="1400" b="1" dirty="0"/>
              <a:t>Static Rules, Isolation Forest, Autoencoder, and a Logistic Regression stacking ensemble</a:t>
            </a:r>
            <a:r>
              <a:rPr lang="en-IN" sz="1400" dirty="0"/>
              <a:t> to perform real-time anomaly detection and automatically block malicious requests while forwarding legitimate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760373" y="1208542"/>
            <a:ext cx="8205207" cy="334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indent="-38100">
              <a:spcBef>
                <a:spcPts val="0"/>
              </a:spcBef>
              <a:buSzPts val="2100"/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adoption of microservice architectures has significantly increased the number of exposed REST APIs, expanding the application-layer attack surface. Traditional API security mechanisms, such as rule-based API Gateways and Web Application Firewalls (WAFs), rely on predefined static rules and struggle to detect modern application-layer attacks. An open and adaptive framework capable of learning API traffic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detecting anomalies in real time, and automatically blocking malicious requests before they reach backend services is therefore required to provide effective API security.</a:t>
            </a:r>
          </a:p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9"/>
          <p:cNvSpPr txBox="1">
            <a:spLocks noGrp="1"/>
          </p:cNvSpPr>
          <p:nvPr>
            <p:ph type="body" idx="1"/>
          </p:nvPr>
        </p:nvSpPr>
        <p:spPr>
          <a:xfrm>
            <a:off x="511330" y="1268016"/>
            <a:ext cx="8121340" cy="299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real-time API protection gateway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intercepts HTTP requests and blocks malicious traffic with minimal latency.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stacking 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Static Rules, Isolation Forest, Autoencoder, and Logistic Regression for accurate anomaly detection.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mechanism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adapts the framework to different REST-based backends without retraining from scratch.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system using standard performance metrics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F1-Score, ROC-AUC, and PR-AUC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 and explainable visualization of anomaly detection results.</a:t>
            </a:r>
          </a:p>
          <a:p>
            <a:pPr marL="13970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>
            <a:spLocks noGrp="1"/>
          </p:cNvSpPr>
          <p:nvPr>
            <p:ph type="title"/>
          </p:nvPr>
        </p:nvSpPr>
        <p:spPr>
          <a:xfrm>
            <a:off x="628649" y="13691"/>
            <a:ext cx="7886700" cy="47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b="1">
              <a:solidFill>
                <a:srgbClr val="FF0000"/>
              </a:solidFill>
            </a:endParaRPr>
          </a:p>
        </p:txBody>
      </p:sp>
      <p:sp>
        <p:nvSpPr>
          <p:cNvPr id="172" name="Google Shape;172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47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77800" lvl="0" indent="-381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49A187-DE33-F1F5-D1D0-435B6FDB0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578499"/>
              </p:ext>
            </p:extLst>
          </p:nvPr>
        </p:nvGraphicFramePr>
        <p:xfrm>
          <a:off x="380749" y="758050"/>
          <a:ext cx="8134600" cy="39842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5550">
                  <a:extLst>
                    <a:ext uri="{9D8B030D-6E8A-4147-A177-3AD203B41FA5}">
                      <a16:colId xmlns:a16="http://schemas.microsoft.com/office/drawing/2014/main" val="442507335"/>
                    </a:ext>
                  </a:extLst>
                </a:gridCol>
                <a:gridCol w="2071050">
                  <a:extLst>
                    <a:ext uri="{9D8B030D-6E8A-4147-A177-3AD203B41FA5}">
                      <a16:colId xmlns:a16="http://schemas.microsoft.com/office/drawing/2014/main" val="4154950779"/>
                    </a:ext>
                  </a:extLst>
                </a:gridCol>
                <a:gridCol w="1814800">
                  <a:extLst>
                    <a:ext uri="{9D8B030D-6E8A-4147-A177-3AD203B41FA5}">
                      <a16:colId xmlns:a16="http://schemas.microsoft.com/office/drawing/2014/main" val="1293520199"/>
                    </a:ext>
                  </a:extLst>
                </a:gridCol>
                <a:gridCol w="1535825">
                  <a:extLst>
                    <a:ext uri="{9D8B030D-6E8A-4147-A177-3AD203B41FA5}">
                      <a16:colId xmlns:a16="http://schemas.microsoft.com/office/drawing/2014/main" val="869443266"/>
                    </a:ext>
                  </a:extLst>
                </a:gridCol>
                <a:gridCol w="2287375">
                  <a:extLst>
                    <a:ext uri="{9D8B030D-6E8A-4147-A177-3AD203B41FA5}">
                      <a16:colId xmlns:a16="http://schemas.microsoft.com/office/drawing/2014/main" val="2018660562"/>
                    </a:ext>
                  </a:extLst>
                </a:gridCol>
              </a:tblGrid>
              <a:tr h="51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Name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81078108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al. (2026)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with EWMA &amp; 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98.5% recall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DDoS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Deep Learning for unknown attack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43619174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Sowmya et al. (2023)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+ 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97.77%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 F1-score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 IDS to IPS and support HTTP POST requests.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92937022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Sadaf &amp; Sultana (2020)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 + Isolation Forest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95.4% detection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on real-world cloud and fog traffic.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022715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BD4367-250E-B97E-A46C-DC6ED50EA366}"/>
              </a:ext>
            </a:extLst>
          </p:cNvPr>
          <p:cNvSpPr txBox="1"/>
          <p:nvPr/>
        </p:nvSpPr>
        <p:spPr>
          <a:xfrm>
            <a:off x="2720898" y="162807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6385B5-C9C7-FF44-3717-8D6F357F9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988128"/>
              </p:ext>
            </p:extLst>
          </p:nvPr>
        </p:nvGraphicFramePr>
        <p:xfrm>
          <a:off x="394010" y="579630"/>
          <a:ext cx="8161084" cy="27882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034">
                  <a:extLst>
                    <a:ext uri="{9D8B030D-6E8A-4147-A177-3AD203B41FA5}">
                      <a16:colId xmlns:a16="http://schemas.microsoft.com/office/drawing/2014/main" val="442507335"/>
                    </a:ext>
                  </a:extLst>
                </a:gridCol>
                <a:gridCol w="2071050">
                  <a:extLst>
                    <a:ext uri="{9D8B030D-6E8A-4147-A177-3AD203B41FA5}">
                      <a16:colId xmlns:a16="http://schemas.microsoft.com/office/drawing/2014/main" val="4154950779"/>
                    </a:ext>
                  </a:extLst>
                </a:gridCol>
                <a:gridCol w="1814800">
                  <a:extLst>
                    <a:ext uri="{9D8B030D-6E8A-4147-A177-3AD203B41FA5}">
                      <a16:colId xmlns:a16="http://schemas.microsoft.com/office/drawing/2014/main" val="1293520199"/>
                    </a:ext>
                  </a:extLst>
                </a:gridCol>
                <a:gridCol w="1535825">
                  <a:extLst>
                    <a:ext uri="{9D8B030D-6E8A-4147-A177-3AD203B41FA5}">
                      <a16:colId xmlns:a16="http://schemas.microsoft.com/office/drawing/2014/main" val="869443266"/>
                    </a:ext>
                  </a:extLst>
                </a:gridCol>
                <a:gridCol w="2287375">
                  <a:extLst>
                    <a:ext uri="{9D8B030D-6E8A-4147-A177-3AD203B41FA5}">
                      <a16:colId xmlns:a16="http://schemas.microsoft.com/office/drawing/2014/main" val="2018660562"/>
                    </a:ext>
                  </a:extLst>
                </a:gridCol>
              </a:tblGrid>
              <a:tr h="51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Description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lang="en-IN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81078108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Levi &amp; Dubin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OpenAPI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Mapping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precision with low request processing time.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payload inspection and support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GraphQL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gRPC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43619174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Mahmoud et al.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Stacking Ensemble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accuracy with low false positives.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lightweight models for edge deployment.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92937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17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2400" b="1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3E072-BA04-2927-B7F4-357477552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5" y="1190427"/>
            <a:ext cx="8973015" cy="3073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628650" y="14003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4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2045086" y="4274005"/>
            <a:ext cx="4572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A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rchitecture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1EFD5E-2803-EBDD-7B49-59F07D540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016" y="973446"/>
            <a:ext cx="2105950" cy="3196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9"/>
          <p:cNvSpPr txBox="1">
            <a:spLocks noGrp="1"/>
          </p:cNvSpPr>
          <p:nvPr>
            <p:ph type="body" idx="1"/>
          </p:nvPr>
        </p:nvSpPr>
        <p:spPr>
          <a:xfrm>
            <a:off x="628650" y="873925"/>
            <a:ext cx="8275500" cy="4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</a:p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lang="en-GB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82600" lvl="0" indent="-25400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B6C1E4-CFD1-6A16-5551-27AE4786A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91059"/>
              </p:ext>
            </p:extLst>
          </p:nvPr>
        </p:nvGraphicFramePr>
        <p:xfrm>
          <a:off x="1642946" y="1412488"/>
          <a:ext cx="5664820" cy="3254536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2832410">
                  <a:extLst>
                    <a:ext uri="{9D8B030D-6E8A-4147-A177-3AD203B41FA5}">
                      <a16:colId xmlns:a16="http://schemas.microsoft.com/office/drawing/2014/main" val="3134317659"/>
                    </a:ext>
                  </a:extLst>
                </a:gridCol>
                <a:gridCol w="2832410">
                  <a:extLst>
                    <a:ext uri="{9D8B030D-6E8A-4147-A177-3AD203B41FA5}">
                      <a16:colId xmlns:a16="http://schemas.microsoft.com/office/drawing/2014/main" val="2766239532"/>
                    </a:ext>
                  </a:extLst>
                </a:gridCol>
              </a:tblGrid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84728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 &amp; ML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780586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&amp; Microservices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439907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491896"/>
                  </a:ext>
                </a:extLst>
              </a:tr>
              <a:tr h="47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 &amp; Logistic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41053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Autoencoder implementation (pure NumPy)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523002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Python (stdlib)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API traffic generation &amp;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62040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311573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8532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F22CE2-AC52-4CE5-AFFC-A098064BBA4A}"/>
              </a:ext>
            </a:extLst>
          </p:cNvPr>
          <p:cNvSpPr txBox="1"/>
          <p:nvPr/>
        </p:nvSpPr>
        <p:spPr>
          <a:xfrm>
            <a:off x="356327" y="587298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lang="en-GB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F6562A-8E27-E357-22DE-6CF08CBBF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67499"/>
              </p:ext>
            </p:extLst>
          </p:nvPr>
        </p:nvGraphicFramePr>
        <p:xfrm>
          <a:off x="995090" y="1172821"/>
          <a:ext cx="5732812" cy="2204710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2866406">
                  <a:extLst>
                    <a:ext uri="{9D8B030D-6E8A-4147-A177-3AD203B41FA5}">
                      <a16:colId xmlns:a16="http://schemas.microsoft.com/office/drawing/2014/main" val="143258751"/>
                    </a:ext>
                  </a:extLst>
                </a:gridCol>
                <a:gridCol w="2866406">
                  <a:extLst>
                    <a:ext uri="{9D8B030D-6E8A-4147-A177-3AD203B41FA5}">
                      <a16:colId xmlns:a16="http://schemas.microsoft.com/office/drawing/2014/main" val="3587846119"/>
                    </a:ext>
                  </a:extLst>
                </a:gridCol>
              </a:tblGrid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131365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i5 / AMD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Ryzen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or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86606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 (Minimum)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655894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 GB SSD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3326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 or Linux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969332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Internet Connection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788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83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 </a:t>
            </a:r>
            <a:b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9243C-BC68-FB88-B22F-76B6467E3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marL="139700" indent="0">
              <a:spcAft>
                <a:spcPts val="600"/>
              </a:spcAft>
              <a:buNone/>
            </a:pPr>
            <a:r>
              <a:rPr sz="1400" b="1">
                <a:latin typeface="Times New Roman"/>
              </a:rPr>
              <a:t>API Gateway (FastAPI + HTTPX): </a:t>
            </a:r>
            <a:r>
              <a:rPr sz="1400" b="0">
                <a:latin typeface="Times New Roman"/>
              </a:rPr>
              <a:t>reverse proxy that inspects every request before it reaches the backend. Backend-agnostic — the protected service needs no code change.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Layer 1 — Static Security: </a:t>
            </a:r>
            <a:r>
              <a:rPr sz="1400" b="0">
                <a:latin typeface="Times New Roman"/>
              </a:rPr>
              <a:t>26 signature rules (SQL Injection, XSS, Path Traversal, Command Injection, SSRF, scanners) applied after multi-round URL and Unicode decoding, plus Redis sliding-window rate limiting (240 req/min, 40 req/5 s burst).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Layer 2 &amp; 3 — Unsupervised Detectors: </a:t>
            </a:r>
            <a:r>
              <a:rPr sz="1400" b="0">
                <a:latin typeface="Times New Roman"/>
              </a:rPr>
              <a:t>Isolation Forest and Deep Autoencoder trained on normal traffic only, using 34 behavioural features that carry no endpoint identity.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Layer 4 — Meta-Learner: </a:t>
            </a:r>
            <a:r>
              <a:rPr sz="1400" b="0">
                <a:latin typeface="Times New Roman"/>
              </a:rPr>
              <a:t>Logistic Regression combines the three detector scores and makes the final Allow / Block decision.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Dataset: </a:t>
            </a:r>
            <a:r>
              <a:rPr sz="1400" b="0">
                <a:latin typeface="Times New Roman"/>
              </a:rPr>
              <a:t>35,496 labelled requests captured through the live gateway, covering normal traffic and 10 attack families.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Deployment &amp; Monitoring: </a:t>
            </a:r>
            <a:r>
              <a:rPr sz="1400" b="0">
                <a:latin typeface="Times New Roman"/>
              </a:rPr>
              <a:t>Docker Compose with only the gateway port exposed, Streamlit dashboard for live monitoring, and 92 automated test cases.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>
            <a:spLocks noGrp="1"/>
          </p:cNvSpPr>
          <p:nvPr>
            <p:ph type="title"/>
          </p:nvPr>
        </p:nvSpPr>
        <p:spPr>
          <a:xfrm>
            <a:off x="576611" y="-12016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CC0ED-7131-C953-97B5-68F5D196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Sliding-Window Rate Limiting: </a:t>
            </a:r>
            <a:r>
              <a:rPr sz="1400" b="0">
                <a:latin typeface="Times New Roman"/>
              </a:rPr>
              <a:t>Redis sorted sets count each client's requests over 60 s and 5 s windows and pass a continuous rate score to the meta-learner.</a:t>
            </a:r>
            <a:endParaRPr lang="en-IN"/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Isolation Forest (300 trees): </a:t>
            </a:r>
            <a:r>
              <a:rPr sz="1400" b="0">
                <a:latin typeface="Times New Roman"/>
              </a:rPr>
              <a:t>isolates rare points through random splits. Trained on normal traffic only, so it requires no attack labels.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Deep Autoencoder (34→32→12→32→34): </a:t>
            </a:r>
            <a:r>
              <a:rPr sz="1400" b="0">
                <a:latin typeface="Times New Roman"/>
              </a:rPr>
              <a:t>trained with Adam and early stopping to reconstruct normal traffic. The reconstruction error becomes the anomaly score, which is what enables detection of unseen attacks.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Logistic Regression Meta-Learner: </a:t>
            </a:r>
            <a:r>
              <a:rPr sz="1400" b="0">
                <a:latin typeface="Times New Roman"/>
              </a:rPr>
              <a:t>converts the three detector scores into a final anomaly probability. Its coefficients are readable, so the model can be verified.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Times New Roman"/>
              </a:rPr>
              <a:t>Leakage-Free Training: </a:t>
            </a:r>
            <a:r>
              <a:rPr sz="1400" b="0">
                <a:latin typeface="Times New Roman"/>
              </a:rPr>
              <a:t>sessions are split into four disjoint pools (base / meta / validation / test). The base detectors never see the data used to train or test the meta-learner, and the test pool is used only once.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 txBox="1">
            <a:spLocks noGrp="1"/>
          </p:cNvSpPr>
          <p:nvPr>
            <p:ph type="title"/>
          </p:nvPr>
        </p:nvSpPr>
        <p:spPr>
          <a:xfrm>
            <a:off x="346710" y="833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of implementation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F46C9-4B62-483E-01EB-09322EB38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latin typeface="Times New Roman"/>
              </a:rPr>
              <a:t>Stacking ensemble performance (mean of 10 runs, with 95% confidence interval):</a:t>
            </a:r>
            <a:endParaRPr lang="en-IN"/>
          </a:p>
        </p:txBody>
      </p:sp>
      <p:graphicFrame>
        <p:nvGraphicFramePr>
          <p:cNvPr id="271" name="Table 270"/>
          <p:cNvGraphicFramePr>
            <a:graphicFrameLocks noGrp="1"/>
          </p:cNvGraphicFramePr>
          <p:nvPr/>
        </p:nvGraphicFramePr>
        <p:xfrm>
          <a:off x="960120" y="1783080"/>
          <a:ext cx="7223760" cy="1920240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2468880"/>
                <a:gridCol w="1737360"/>
                <a:gridCol w="301752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Times New Roman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Times New Roman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Times New Roman"/>
                        </a:rPr>
                        <a:t>95% Confidence Interval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0.970 – 0.985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False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0.61% – 1.49%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0.980 – 0.993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0.812 – 0.891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0.700 – 0.828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Zero-Day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Times New Roman"/>
                        </a:rPr>
                        <a:t>0.445 – 0.749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2" name="TextBox 271"/>
          <p:cNvSpPr txBox="1"/>
          <p:nvPr/>
        </p:nvSpPr>
        <p:spPr>
          <a:xfrm>
            <a:off x="630936" y="3950208"/>
            <a:ext cx="788212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Times New Roman"/>
              </a:rPr>
              <a:t>Layer 1 (deterministic): </a:t>
            </a:r>
            <a:r>
              <a:rPr sz="1200">
                <a:latin typeface="Times New Roman"/>
              </a:rPr>
              <a:t>31/31 attack patterns blocked, with 0 false positives in 1,200 legitimate requests.</a:t>
            </a:r>
          </a:p>
          <a:p>
            <a:r>
              <a:rPr sz="1200" b="1">
                <a:latin typeface="Times New Roman"/>
              </a:rPr>
              <a:t>Latency: </a:t>
            </a:r>
            <a:r>
              <a:rPr sz="1200">
                <a:latin typeface="Times New Roman"/>
              </a:rPr>
              <a:t>10.96 ms median detection; McNemar's test confirms the ensemble is significantly better than every individual detector (p &lt; 0.001).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630936" y="1234440"/>
            <a:ext cx="7882127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MicroAPI Guard implements a four-layer API security gateway that blocks known attacks deterministically and flags unseen ones statistically.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The deterministic layer is ready for use: 31 of 31 attack patterns blocked, with zero false positives across 1,200 legitimate requests.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The stacking ensemble performs better than every individual detector, confirmed statistically using McNemar's test (p &lt; 0.001).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Zero-day capability was verified by withholding three attack families from training entirely, giving a mean recall of 0.598 (95% CI 0.445 – 0.749).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All results are reported as means over 10 runs with confidence intervals rather than a single best run.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Times New Roman"/>
              </a:rPr>
              <a:t>•  Future work: retrain on real production traffic to enable full ML enforcement, and validate against a public benchmark such as CSIC 2010.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>
            <a:spLocks noGrp="1"/>
          </p:cNvSpPr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b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681117" y="608606"/>
            <a:ext cx="7288288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Huang, Q. Qiang, Y. Shao, R. Li, and Y. Huang,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"Design and Application Research of an Intelligent API Gateway for Traffic Anomaly Detection in Microservices Architecture,"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5th International Conference on Big Data, Information and Computer Network (BDICN), pp. 1–6, 2026.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Sowmya, M. D. Irfan, A. J. Rai, P.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Honnavalli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Spoorthi, and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Nagasundari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Traffic Anomaly Detection in Microservice Architecture,"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 IEEE/ACM 23rd International Symposium on Cluster, Cloud and Internet Computing Workshops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CCGridW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pp. 206–213, 2023.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Sadaf and J. Sultana,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"Intrusion Detection Based on Autoencoder and Isolation Forest in Fog Computing,"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vol. 8, pp. 164917–164928, 2020.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Levi and R. Dubin,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Security Based on Automatic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Mapping,"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2025.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Mahmoud, M. Liyanage, J. Singla, and S. Gangopadhyay,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"DSEM-NIDS: Enhanced Network Intrusion Detection System Using Deep Stacking Ensemble Model,"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Open Journal of the Computer Society, 2025.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/>
        </p:nvSpPr>
        <p:spPr>
          <a:xfrm>
            <a:off x="2805860" y="1247368"/>
            <a:ext cx="3525245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</a:t>
            </a:r>
            <a:endParaRPr sz="54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57" y="4188656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1062</Words>
  <Application>Microsoft Office PowerPoint</Application>
  <PresentationFormat>On-screen Show (16:9)</PresentationFormat>
  <Paragraphs>146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Simple Light</vt:lpstr>
      <vt:lpstr>PowerPoint Presentation</vt:lpstr>
      <vt:lpstr>Contents</vt:lpstr>
      <vt:lpstr>Abstract</vt:lpstr>
      <vt:lpstr>Introduction</vt:lpstr>
      <vt:lpstr>Problem Statement</vt:lpstr>
      <vt:lpstr>Objectives</vt:lpstr>
      <vt:lpstr>Literature Survey</vt:lpstr>
      <vt:lpstr>PowerPoint Presentation</vt:lpstr>
      <vt:lpstr>Existing System</vt:lpstr>
      <vt:lpstr>System Architecture</vt:lpstr>
      <vt:lpstr>Software and Hardware Requirement</vt:lpstr>
      <vt:lpstr>PowerPoint Presentation</vt:lpstr>
      <vt:lpstr>System Implementation  </vt:lpstr>
      <vt:lpstr>Algorithms Used</vt:lpstr>
      <vt:lpstr>Results of implementation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Harshal</dc:creator>
  <cp:lastModifiedBy>sunny nirmal</cp:lastModifiedBy>
  <cp:revision>2</cp:revision>
  <dcterms:modified xsi:type="dcterms:W3CDTF">2026-08-18T10:18:01Z</dcterms:modified>
</cp:coreProperties>
</file>