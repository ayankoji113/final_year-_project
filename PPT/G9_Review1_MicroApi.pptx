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8FB433-4817-4217-89C0-0E371D4D6615}">
  <a:tblStyle styleId="{BA8FB433-4817-4217-89C0-0E371D4D66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5e536b5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f95e536b5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5e536b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f95e536b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5e536b55_17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95e536b55_17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66913bfaae4ff5ed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66913bfaae4ff5ed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6913bfaae4ff5ed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6913bfaae4ff5ed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6913bfaae4ff5ed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66913bfaae4ff5ed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66913bfaae4ff5ed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66913bfaae4ff5ed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1602f3d45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g3f1602f3d45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30733" y="1437421"/>
            <a:ext cx="7675500" cy="30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Title: </a:t>
            </a:r>
            <a:endParaRPr sz="1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ct val="120000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Guard: Real-Time API Anomaly Detection Using ML &amp; DL.</a:t>
            </a:r>
            <a:endParaRPr sz="1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ct val="100000"/>
              <a:buNone/>
            </a:pPr>
            <a:r>
              <a:rPr lang="en-GB" sz="18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Review 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5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85221"/>
              <a:buNone/>
            </a:pPr>
            <a:r>
              <a:rPr lang="en-GB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     </a:t>
            </a:r>
            <a:r>
              <a:rPr lang="en-GB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1) Sunny Nirmal     [BTech ITC32]</a:t>
            </a:r>
            <a:endParaRPr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14500" lvl="5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85221"/>
              <a:buNone/>
            </a:pPr>
            <a:r>
              <a:rPr lang="en-GB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2) </a:t>
            </a:r>
            <a:r>
              <a:rPr lang="en-GB" sz="14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Tausib</a:t>
            </a:r>
            <a:r>
              <a:rPr lang="en-GB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Patel       [BTech ITC37]</a:t>
            </a:r>
            <a:endParaRPr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14500" lvl="5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85221"/>
              <a:buNone/>
            </a:pPr>
            <a:r>
              <a:rPr lang="en-GB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3)Yash Patil           [BTech ITC54]</a:t>
            </a:r>
            <a:endParaRPr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GB" sz="1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Guided By:</a:t>
            </a:r>
            <a:r>
              <a:rPr lang="en-GB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1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en-GB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</a:t>
            </a:r>
            <a:r>
              <a:rPr lang="en-GB" sz="14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Mrs.Priyanka</a:t>
            </a:r>
            <a:r>
              <a:rPr lang="en-GB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kumbhar</a:t>
            </a:r>
            <a:endParaRPr lang="en-GB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endParaRPr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452246" y="63947"/>
            <a:ext cx="7825953" cy="1284264"/>
            <a:chOff x="0" y="0"/>
            <a:chExt cx="7037727" cy="967576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171450" y="748501"/>
              <a:ext cx="6467475" cy="2190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  --------------------------------------------------------------------------------------------------------------------------------------------------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" name="Google Shape;87;p13"/>
            <p:cNvGrpSpPr/>
            <p:nvPr/>
          </p:nvGrpSpPr>
          <p:grpSpPr>
            <a:xfrm>
              <a:off x="0" y="0"/>
              <a:ext cx="7037727" cy="872326"/>
              <a:chOff x="0" y="0"/>
              <a:chExt cx="7037727" cy="872326"/>
            </a:xfrm>
          </p:grpSpPr>
          <p:sp>
            <p:nvSpPr>
              <p:cNvPr id="88" name="Google Shape;88;p13"/>
              <p:cNvSpPr txBox="1"/>
              <p:nvPr/>
            </p:nvSpPr>
            <p:spPr>
              <a:xfrm>
                <a:off x="911585" y="0"/>
                <a:ext cx="6126142" cy="8723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G H </a:t>
                </a:r>
                <a:r>
                  <a:rPr lang="en-GB" sz="1800" b="1" i="0" u="none" strike="noStrike" cap="none" dirty="0" err="1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Raisoni</a:t>
                </a:r>
                <a:r>
                  <a:rPr lang="en-GB" sz="18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 College of Engineering &amp; Management, Pune</a:t>
                </a:r>
                <a:endParaRPr sz="11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1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(An Empowered Autonomous Institute Affiliated to Savitribai Phule Pune University)</a:t>
                </a:r>
                <a:endParaRPr sz="1100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Department of Information Technology</a:t>
                </a:r>
                <a:endParaRPr sz="1800" b="1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 </a:t>
                </a:r>
                <a:endParaRPr sz="1100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pic>
            <p:nvPicPr>
              <p:cNvPr id="89" name="Google Shape;89;p1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0"/>
                <a:ext cx="1310387" cy="8382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57" y="4188656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dirty="0"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686875" y="121046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363856" indent="-342900">
              <a:spcBef>
                <a:spcPts val="0"/>
              </a:spcBef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</a:t>
            </a:r>
            <a:r>
              <a:rPr lang="en-IN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 </a:t>
            </a:r>
          </a:p>
          <a:p>
            <a:pPr marL="363856" indent="-342900">
              <a:buSzPct val="100000"/>
            </a:pPr>
            <a:r>
              <a:rPr lang="en-IN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 </a:t>
            </a:r>
          </a:p>
          <a:p>
            <a:pPr marL="363856" indent="-342900">
              <a:buSzPct val="100000"/>
            </a:pPr>
            <a:r>
              <a:rPr lang="en-IN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63855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Software and Hardware Requirements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94970" indent="-342900">
              <a:buSzPct val="66667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6" indent="-342900">
              <a:buSzPct val="100000"/>
            </a:pPr>
            <a:r>
              <a:rPr lang="en-GB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628650" y="19430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 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692915" y="1188501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34275" rIns="68575" bIns="34275" anchor="t" anchorCtr="0">
            <a:noAutofit/>
          </a:bodyPr>
          <a:lstStyle/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deployable API security gateway designed to detect anomalous API traffic using a learned stacking ensemble model. Unlike traditional API gateways that rely only on rate limiting or signature-based detection, the proposed system performs three parallel stages of analysis: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Rate Limiter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(Machine Learning)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Autoencoder (Deep Learning) </a:t>
            </a: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outputs of these detectors are combined using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requests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near real-time detection with minimal latency.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live visualization of alerts and model predictions, while a calibration phase allows deployment across different REST-based applications without retraining.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628650" y="8509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669303" y="1018551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-IN" sz="1400" dirty="0"/>
              <a:t>Modern applications are increasingly built using </a:t>
            </a:r>
            <a:r>
              <a:rPr lang="en-IN" sz="1400" b="1" dirty="0"/>
              <a:t>microservice architectures</a:t>
            </a:r>
            <a:r>
              <a:rPr lang="en-IN" sz="1400" dirty="0"/>
              <a:t>, where services communicate through </a:t>
            </a:r>
            <a:r>
              <a:rPr lang="en-IN" sz="1400" b="1" dirty="0"/>
              <a:t>REST APIs</a:t>
            </a:r>
            <a:r>
              <a:rPr lang="en-IN" sz="1400" dirty="0"/>
              <a:t>.</a:t>
            </a:r>
          </a:p>
          <a:p>
            <a:r>
              <a:rPr lang="en-IN" sz="1400" dirty="0"/>
              <a:t>As the number of exposed APIs grows, the </a:t>
            </a:r>
            <a:r>
              <a:rPr lang="en-IN" sz="1400" b="1" dirty="0"/>
              <a:t>attack surface also increases</a:t>
            </a:r>
            <a:r>
              <a:rPr lang="en-IN" sz="1400" dirty="0"/>
              <a:t>, making APIs a major target for cyberattacks.</a:t>
            </a:r>
          </a:p>
          <a:p>
            <a:r>
              <a:rPr lang="en-IN" sz="1400" dirty="0"/>
              <a:t>Traditional security mechanisms such as </a:t>
            </a:r>
            <a:r>
              <a:rPr lang="en-IN" sz="1400" b="1" dirty="0"/>
              <a:t>API Gateways, Web Application Firewalls (WAFs), and static rate-limiting</a:t>
            </a:r>
            <a:r>
              <a:rPr lang="en-IN" sz="1400" dirty="0"/>
              <a:t> rely on predefined rules and struggle to detect unknown or evolving threats.</a:t>
            </a:r>
          </a:p>
          <a:p>
            <a:r>
              <a:rPr lang="en-IN" sz="1400" dirty="0"/>
              <a:t>Machine Learning techniques like </a:t>
            </a:r>
            <a:r>
              <a:rPr lang="en-IN" sz="1400" b="1" dirty="0"/>
              <a:t>Isolation Forest</a:t>
            </a:r>
            <a:r>
              <a:rPr lang="en-IN" sz="1400" dirty="0"/>
              <a:t> and Deep Learning models such as </a:t>
            </a:r>
            <a:r>
              <a:rPr lang="en-IN" sz="1400" b="1" dirty="0"/>
              <a:t>Autoencoders</a:t>
            </a:r>
            <a:r>
              <a:rPr lang="en-IN" sz="1400" dirty="0"/>
              <a:t> can identify abnormal API </a:t>
            </a:r>
            <a:r>
              <a:rPr lang="en-IN" sz="1400" dirty="0" err="1"/>
              <a:t>behavior</a:t>
            </a:r>
            <a:r>
              <a:rPr lang="en-IN" sz="1400" dirty="0"/>
              <a:t> by learning traffic patterns instead of depending on fixed signatures.</a:t>
            </a:r>
          </a:p>
          <a:p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/>
              <a:t> Guard</a:t>
            </a:r>
            <a:r>
              <a:rPr lang="en-IN" sz="1400" dirty="0"/>
              <a:t> is proposed as an intelligent API Security Gateway that combines </a:t>
            </a:r>
            <a:r>
              <a:rPr lang="en-IN" sz="1400" b="1" dirty="0"/>
              <a:t>Static Rules, Isolation Forest, Autoencoder, and a Logistic Regression stacking ensemble</a:t>
            </a:r>
            <a:r>
              <a:rPr lang="en-IN" sz="1400" dirty="0"/>
              <a:t> to perform real-time anomaly detection and automatically block malicious requests while forwarding legitimate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adoption of microservice architectures has significantly increased the number of exposed REST APIs, expanding the application-layer attack surface. Traditional API security mechanisms, such as rule-based API Gateways and Web Application Firewalls (WAFs), rely on predefined static rules and struggle to detect modern application-layer attacks. An open and adaptive framework capable of learning API traffic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detecting anomalies in real time, and automatically blocking malicious requests before they reach backend services is therefore required to provide effective API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826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real-time API protection gateway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intercepts HTTP requests and blocks malicious traffic with minimal latency.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stacking ensemble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Static Rules, Isolation Forest, Autoencoder, and Logistic Regression for accurate anomaly detection.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mechanism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adapts the framework to different REST-based backends without retraining from scratch.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system using standard performance metrics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F1-Score, ROC-AUC, and PR-AUC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 and explainable visualization of anomaly detection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412325" y="-45001"/>
            <a:ext cx="7886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19"/>
          <p:cNvGraphicFramePr/>
          <p:nvPr>
            <p:extLst>
              <p:ext uri="{D42A27DB-BD31-4B8C-83A1-F6EECF244321}">
                <p14:modId xmlns:p14="http://schemas.microsoft.com/office/powerpoint/2010/main" val="1772923656"/>
              </p:ext>
            </p:extLst>
          </p:nvPr>
        </p:nvGraphicFramePr>
        <p:xfrm>
          <a:off x="504700" y="845350"/>
          <a:ext cx="8134600" cy="3984240"/>
        </p:xfrm>
        <a:graphic>
          <a:graphicData uri="http://schemas.openxmlformats.org/drawingml/2006/table">
            <a:tbl>
              <a:tblPr>
                <a:noFill/>
                <a:tableStyleId>{BA8FB433-4817-4217-89C0-0E371D4D6615}</a:tableStyleId>
              </a:tblPr>
              <a:tblGrid>
                <a:gridCol w="4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Name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 (2026)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with EWMA &amp; 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98.5% recall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DDoS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Deep Learning for unknown attack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Sowmya et al. (2023)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+ 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97.77%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 F1-score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IDS to IPS and support HTTP POST requests.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Sadaf &amp; Sultana (2020)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 + Isolation Forest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95.4% detection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on real-world cloud and fog traffic.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20"/>
          <p:cNvGraphicFramePr/>
          <p:nvPr>
            <p:extLst>
              <p:ext uri="{D42A27DB-BD31-4B8C-83A1-F6EECF244321}">
                <p14:modId xmlns:p14="http://schemas.microsoft.com/office/powerpoint/2010/main" val="2490003310"/>
              </p:ext>
            </p:extLst>
          </p:nvPr>
        </p:nvGraphicFramePr>
        <p:xfrm>
          <a:off x="745763" y="702188"/>
          <a:ext cx="7758275" cy="3035725"/>
        </p:xfrm>
        <a:graphic>
          <a:graphicData uri="http://schemas.openxmlformats.org/drawingml/2006/table">
            <a:tbl>
              <a:tblPr>
                <a:noFill/>
                <a:tableStyleId>{BA8FB433-4817-4217-89C0-0E371D4D6615}</a:tableStyleId>
              </a:tblPr>
              <a:tblGrid>
                <a:gridCol w="4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70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Description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lang="en-IN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Levi &amp; Dubin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OpenAPI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Mapping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precision with low request processing time.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payload inspection and support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Mahmoud et al.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Stacking Ensemble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accuracy with low false positives.</a:t>
                      </a: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lightweight models for edge deployment.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412325" y="-45001"/>
            <a:ext cx="7886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40365" y="898667"/>
            <a:ext cx="8730900" cy="381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API Request Interception: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 intercepts every incoming API request.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Middleware extracts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using Redis-based sliding windows and payload analysis.</a:t>
            </a:r>
            <a:r>
              <a:rPr lang="en-GB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120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Parallel Anomaly Detection: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spcBef>
                <a:spcPts val="12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Rules, Isolation Forest, and Autoencoder independently generate anomaly scores.</a:t>
            </a:r>
          </a:p>
          <a:p>
            <a:pPr lvl="0">
              <a:spcBef>
                <a:spcPts val="120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Stacking Ensemble Classification: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spcBef>
                <a:spcPts val="12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combines the anomaly scores to produce the final prediction.</a:t>
            </a:r>
          </a:p>
          <a:p>
            <a:pPr lvl="0">
              <a:spcBef>
                <a:spcPts val="120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Inline Request Handling:</a:t>
            </a:r>
          </a:p>
          <a:p>
            <a:pPr lvl="0">
              <a:spcBef>
                <a:spcPts val="12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requests are blocked (HTTP 403), while legitimate requests are forwarded to the backend.</a:t>
            </a:r>
          </a:p>
          <a:p>
            <a:pPr lvl="0">
              <a:spcBef>
                <a:spcPts val="120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Real-Time Monitoring: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spcBef>
                <a:spcPts val="12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logs, anomaly scores, and gateway decisions are visualized through a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103775" y="-15495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80EF2-1BEC-37F1-D0DF-A1F91B033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471"/>
            <a:ext cx="9144000" cy="31325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13450" y="142649"/>
            <a:ext cx="75519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GB" b="1" dirty="0">
                <a:solidFill>
                  <a:srgbClr val="FF0000"/>
                </a:solidFill>
              </a:rPr>
              <a:t>Architecture </a:t>
            </a:r>
            <a:r>
              <a:rPr lang="en-GB" b="1" dirty="0" err="1">
                <a:solidFill>
                  <a:srgbClr val="FF0000"/>
                </a:solidFill>
              </a:rPr>
              <a:t>Daigram</a:t>
            </a:r>
            <a:br>
              <a:rPr lang="en-GB" b="1" dirty="0">
                <a:solidFill>
                  <a:srgbClr val="FF0000"/>
                </a:solidFill>
              </a:rPr>
            </a:br>
            <a:endParaRPr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EDF2A-7D6D-DC92-ACE3-74825B359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792" y="551039"/>
            <a:ext cx="2973618" cy="4592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D9336D-0FF0-0BA4-C429-2B758995B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711" y="551038"/>
            <a:ext cx="3025550" cy="45924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198025" y="47825"/>
            <a:ext cx="63345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76450" y="1052725"/>
            <a:ext cx="3042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80000"/>
              </a:lnSpc>
              <a:spcBef>
                <a:spcPts val="1200"/>
              </a:spcBef>
              <a:spcAft>
                <a:spcPts val="1000"/>
              </a:spcAft>
              <a:buSzPts val="1300"/>
              <a:buFont typeface="Times New Roman"/>
              <a:buNone/>
            </a:pP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1"/>
          </p:nvPr>
        </p:nvSpPr>
        <p:spPr>
          <a:xfrm>
            <a:off x="4269775" y="1052727"/>
            <a:ext cx="3042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</a:t>
            </a:r>
            <a:endParaRPr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80000"/>
              </a:lnSpc>
              <a:spcBef>
                <a:spcPts val="1200"/>
              </a:spcBef>
              <a:spcAft>
                <a:spcPts val="1000"/>
              </a:spcAft>
              <a:buSzPts val="1300"/>
              <a:buFont typeface="Times New Roman"/>
              <a:buNone/>
            </a:pPr>
            <a:endParaRPr sz="1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1186E9-0874-2EC0-71CF-24CA4A0F3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09415"/>
              </p:ext>
            </p:extLst>
          </p:nvPr>
        </p:nvGraphicFramePr>
        <p:xfrm>
          <a:off x="198025" y="834618"/>
          <a:ext cx="4782853" cy="2956560"/>
        </p:xfrm>
        <a:graphic>
          <a:graphicData uri="http://schemas.openxmlformats.org/drawingml/2006/table">
            <a:tbl>
              <a:tblPr/>
              <a:tblGrid>
                <a:gridCol w="1724148">
                  <a:extLst>
                    <a:ext uri="{9D8B030D-6E8A-4147-A177-3AD203B41FA5}">
                      <a16:colId xmlns:a16="http://schemas.microsoft.com/office/drawing/2014/main" val="2916270669"/>
                    </a:ext>
                  </a:extLst>
                </a:gridCol>
                <a:gridCol w="3058705">
                  <a:extLst>
                    <a:ext uri="{9D8B030D-6E8A-4147-A177-3AD203B41FA5}">
                      <a16:colId xmlns:a16="http://schemas.microsoft.com/office/drawing/2014/main" val="607971193"/>
                    </a:ext>
                  </a:extLst>
                </a:gridCol>
              </a:tblGrid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940264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3.10+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development &amp; ML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749367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Gateway &amp; Microservices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94641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feature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23241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Isolation Forest &amp; 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82637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Autoencoder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968497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API traffic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16983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068607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Containerization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2752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A6B36F-6483-0FB1-DC32-CAA10E001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775163"/>
              </p:ext>
            </p:extLst>
          </p:nvPr>
        </p:nvGraphicFramePr>
        <p:xfrm>
          <a:off x="170985" y="847493"/>
          <a:ext cx="4832195" cy="2966224"/>
        </p:xfrm>
        <a:graphic>
          <a:graphicData uri="http://schemas.openxmlformats.org/drawingml/2006/table">
            <a:tbl>
              <a:tblPr/>
              <a:tblGrid>
                <a:gridCol w="4832195">
                  <a:extLst>
                    <a:ext uri="{9D8B030D-6E8A-4147-A177-3AD203B41FA5}">
                      <a16:colId xmlns:a16="http://schemas.microsoft.com/office/drawing/2014/main" val="2498022852"/>
                    </a:ext>
                  </a:extLst>
                </a:gridCol>
              </a:tblGrid>
              <a:tr h="296622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8494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C8B285-70D5-F472-B320-9F000E450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997499"/>
              </p:ext>
            </p:extLst>
          </p:nvPr>
        </p:nvGraphicFramePr>
        <p:xfrm>
          <a:off x="5175546" y="834618"/>
          <a:ext cx="3899384" cy="2847488"/>
        </p:xfrm>
        <a:graphic>
          <a:graphicData uri="http://schemas.openxmlformats.org/drawingml/2006/table">
            <a:tbl>
              <a:tblPr/>
              <a:tblGrid>
                <a:gridCol w="1949692">
                  <a:extLst>
                    <a:ext uri="{9D8B030D-6E8A-4147-A177-3AD203B41FA5}">
                      <a16:colId xmlns:a16="http://schemas.microsoft.com/office/drawing/2014/main" val="556686776"/>
                    </a:ext>
                  </a:extLst>
                </a:gridCol>
                <a:gridCol w="1949692">
                  <a:extLst>
                    <a:ext uri="{9D8B030D-6E8A-4147-A177-3AD203B41FA5}">
                      <a16:colId xmlns:a16="http://schemas.microsoft.com/office/drawing/2014/main" val="1407901604"/>
                    </a:ext>
                  </a:extLst>
                </a:gridCol>
              </a:tblGrid>
              <a:tr h="38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957620"/>
                  </a:ext>
                </a:extLst>
              </a:tr>
              <a:tr h="655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 Core i5 / AMD Ryzen 5 or 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83311"/>
                  </a:ext>
                </a:extLst>
              </a:tr>
              <a:tr h="38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 GB (Minimum)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83185"/>
                  </a:ext>
                </a:extLst>
              </a:tr>
              <a:tr h="38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256 GB SSD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474451"/>
                  </a:ext>
                </a:extLst>
              </a:tr>
              <a:tr h="38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Windows 10/11 or Linux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720738"/>
                  </a:ext>
                </a:extLst>
              </a:tr>
              <a:tr h="38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Stable Internet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8304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75B64F-FCC3-C8CD-E8CF-2DAA60ECA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931011"/>
              </p:ext>
            </p:extLst>
          </p:nvPr>
        </p:nvGraphicFramePr>
        <p:xfrm>
          <a:off x="5030220" y="847493"/>
          <a:ext cx="4044709" cy="2966223"/>
        </p:xfrm>
        <a:graphic>
          <a:graphicData uri="http://schemas.openxmlformats.org/drawingml/2006/table">
            <a:tbl>
              <a:tblPr/>
              <a:tblGrid>
                <a:gridCol w="4044709">
                  <a:extLst>
                    <a:ext uri="{9D8B030D-6E8A-4147-A177-3AD203B41FA5}">
                      <a16:colId xmlns:a16="http://schemas.microsoft.com/office/drawing/2014/main" val="4177105164"/>
                    </a:ext>
                  </a:extLst>
                </a:gridCol>
              </a:tblGrid>
              <a:tr h="29662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22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en-GB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1D013B-4BC1-9C39-027E-AFE5D0333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53" y="905869"/>
            <a:ext cx="8162693" cy="40405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C0B20-6F00-C2D0-2B90-0146E193D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27" y="203021"/>
            <a:ext cx="8519532" cy="4710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74ECC-4BB6-E7DB-6155-16782DC5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24" y="163550"/>
            <a:ext cx="8834672" cy="44679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CD436-E3B0-8BFE-0D3C-86D5FEDA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"/>
            <a:ext cx="9144000" cy="48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9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628650" y="591526"/>
            <a:ext cx="7886700" cy="3920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Dockerized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 environment with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Gateway, Backend Service, and Redis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 successfully intercepts and forwards HTTP requests to backend microservices.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integrated for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sliding window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tracking.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JSONL logging mechanism implemented for storing API traffic features.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 are developed and tested.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API traffic generated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PowerShell/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normal and attack scenarios.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monitoring with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status, latency, payload size, and sliding window count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successfully working.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492150" y="1073156"/>
            <a:ext cx="8159700" cy="3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aims to provide intelligent and real-time API security using Machine Learning and Deep Learning techniques. The initial implementation successfully establishes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Gateway, Redis-based request monitoring, API traffic logging, and traffic simulation environment. The next phase of the project focuses on integrating the anomaly detection models, implementing the stacking ensemble, and developing a real-time monitoring dashboard to enhance API security against evolving cyber threats.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411700" y="967800"/>
            <a:ext cx="8577900" cy="3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Huang, Q. Qiang, Y. Shao, R. Li, and Y. Huang,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and Application Research of an Intelligent API Gateway for Traffic Anomaly Detection in Microservices Architecture,"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5th International Conference on Big Data, Information and Computer Network (BDICN), pp. 1–6, 2026.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Sowmya, M. D. Irfan, A. J. Rai, P.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Honnavalli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Spoorthi, and S.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Nagasundari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Traffic Anomaly Detection in Microservice Architecture,"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 IEEE/ACM 23rd International Symposium on Cluster, Cloud and Internet Computing Workshops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CCGridW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pp. 206–213, 2023.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Sadaf and J. Sultana,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"Intrusion Detection Based on Autoencoder and Isolation Forest in Fog Computing,"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vol. 8, pp. 164917–164928, 2020.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Levi and R. Dubin,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Security Based on Automatic </a:t>
            </a:r>
            <a:r>
              <a:rPr lang="en-I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Mapping,"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2025.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Mahmoud, M. Liyanage, J. Singla, and S. Gangopadhyay,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"DSEM-NIDS: Enhanced Network Intrusion Detection System Using Deep Stacking Ensemble Model,"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Open Journal of the Computer Society, 2025.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/>
        </p:nvSpPr>
        <p:spPr>
          <a:xfrm>
            <a:off x="3000143" y="1003654"/>
            <a:ext cx="35253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</a:t>
            </a:r>
            <a:endParaRPr sz="5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57" y="4188656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1339</Words>
  <Application>Microsoft Office PowerPoint</Application>
  <PresentationFormat>On-screen Show (16:9)</PresentationFormat>
  <Paragraphs>161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Contents</vt:lpstr>
      <vt:lpstr>Abstract    </vt:lpstr>
      <vt:lpstr>Introduction</vt:lpstr>
      <vt:lpstr>Problem Statement</vt:lpstr>
      <vt:lpstr>Objectives</vt:lpstr>
      <vt:lpstr>Literature Survey </vt:lpstr>
      <vt:lpstr>PowerPoint Presentation</vt:lpstr>
      <vt:lpstr>Proposed Methodology</vt:lpstr>
      <vt:lpstr>Existing System </vt:lpstr>
      <vt:lpstr>Architecture Daigram </vt:lpstr>
      <vt:lpstr>Software and Hardware Requirement</vt:lpstr>
      <vt:lpstr>Implementation  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sunny nirmal</cp:lastModifiedBy>
  <cp:revision>6</cp:revision>
  <dcterms:modified xsi:type="dcterms:W3CDTF">2026-07-25T11:13:10Z</dcterms:modified>
</cp:coreProperties>
</file>