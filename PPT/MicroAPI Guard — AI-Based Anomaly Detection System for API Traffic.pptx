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Relationship Id="rId4" Type="http://schemas.openxmlformats.org/officeDocument/2006/relationships/custom-properties" Target="docProps/custom.xml" 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16256000" cy="9144000"/>
  <p:notesSz cx="9144000" cy="16256000"/>
  <p:embeddedFontLst>
    <p:embeddedFont>
      <p:font typeface="Quattrocento Sans" charset="-122" pitchFamily="34"/>
      <p:regular r:id="rId26"/>
    </p:embeddedFont>
    <p:embeddedFont>
      <p:font typeface="Unna" charset="-122" pitchFamily="34"/>
      <p:regular r:id="rId27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Relationship Id="rId26" Type="http://schemas.openxmlformats.org/officeDocument/2006/relationships/font" Target="fonts/font1.fntdata"/><Relationship Id="rId27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70000" y="317500"/>
            <a:ext cx="13716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600" b="1" dirty="0">
                <a:solidFill>
                  <a:srgbClr val="00000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 H Raisoni College of Engineering &amp; Management, Pune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1270000" y="825500"/>
            <a:ext cx="13716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600" dirty="0">
                <a:solidFill>
                  <a:srgbClr val="00000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(An Empowered Autonomous Institute Affiliated to Savitribai Phule Pune University)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270000" y="1333500"/>
            <a:ext cx="13716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400" b="1" dirty="0">
                <a:solidFill>
                  <a:srgbClr val="000000"/>
                </a:solidFill>
                <a:latin typeface="Unna" pitchFamily="34" charset="0"/>
                <a:ea typeface="Unna" pitchFamily="34" charset="-122"/>
                <a:cs typeface="Unna" pitchFamily="34" charset="-120"/>
              </a:rPr>
              <a:t>Department of Information Technology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1270000" y="1968500"/>
            <a:ext cx="13716000" cy="0"/>
          </a:xfrm>
          <a:prstGeom prst="straightConnector1">
            <a:avLst/>
          </a:prstGeom>
          <a:noFill/>
          <a:ln w="12700">
            <a:solidFill>
              <a:srgbClr val="000000"/>
            </a:solidFill>
            <a:prstDash val="solid"/>
            <a:headEnd type="none"/>
            <a:tailEnd type="none"/>
          </a:ln>
        </p:spPr>
      </p:sp>
      <p:sp>
        <p:nvSpPr>
          <p:cNvPr id="6" name="Text 4"/>
          <p:cNvSpPr/>
          <p:nvPr/>
        </p:nvSpPr>
        <p:spPr>
          <a:xfrm>
            <a:off x="1270000" y="2286000"/>
            <a:ext cx="13716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3000" dirty="0">
                <a:solidFill>
                  <a:srgbClr val="000000"/>
                </a:solidFill>
                <a:latin typeface="Unna" pitchFamily="34" charset="0"/>
                <a:ea typeface="Unna" pitchFamily="34" charset="-122"/>
                <a:cs typeface="Unna" pitchFamily="34" charset="-120"/>
              </a:rPr>
              <a:t>Title: </a:t>
            </a:r>
            <a:pPr algn="ctr">
              <a:lnSpc>
                <a:spcPct val="120000"/>
              </a:lnSpc>
            </a:pPr>
            <a:r>
              <a:rPr lang="en-US" sz="3000" b="1" dirty="0">
                <a:solidFill>
                  <a:srgbClr val="000000"/>
                </a:solidFill>
                <a:latin typeface="Unna" pitchFamily="34" charset="0"/>
                <a:ea typeface="Unna" pitchFamily="34" charset="-122"/>
                <a:cs typeface="Unna" pitchFamily="34" charset="-120"/>
              </a:rPr>
              <a:t>"MicroAPI Guard"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1270000" y="2921000"/>
            <a:ext cx="137160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2000" dirty="0">
                <a:solidFill>
                  <a:srgbClr val="00000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AI-Based Anomaly Detection System for API Traffic</a:t>
            </a:r>
            <a:endParaRPr lang="en-US" sz="2000" dirty="0"/>
          </a:p>
          <a:p>
            <a:pPr algn="ctr">
              <a:lnSpc>
                <a:spcPct val="140000"/>
              </a:lnSpc>
            </a:pPr>
            <a:r>
              <a:rPr lang="en-US" sz="2000" dirty="0">
                <a:solidFill>
                  <a:srgbClr val="00000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 Microservice Architectures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270000" y="3937000"/>
            <a:ext cx="13716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800" b="1" dirty="0">
                <a:solidFill>
                  <a:srgbClr val="5B2D6E"/>
                </a:solidFill>
                <a:latin typeface="Unna" pitchFamily="34" charset="0"/>
                <a:ea typeface="Unna" pitchFamily="34" charset="-122"/>
                <a:cs typeface="Unna" pitchFamily="34" charset="-120"/>
              </a:rPr>
              <a:t>Project Review I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1270000" y="4699000"/>
            <a:ext cx="13716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200" b="1" dirty="0">
                <a:solidFill>
                  <a:srgbClr val="000000"/>
                </a:solidFill>
                <a:latin typeface="Unna" pitchFamily="34" charset="0"/>
                <a:ea typeface="Unna" pitchFamily="34" charset="-122"/>
                <a:cs typeface="Unna" pitchFamily="34" charset="-120"/>
              </a:rPr>
              <a:t>Presented by: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4318000" y="5207000"/>
            <a:ext cx="7620000" cy="1397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60000"/>
              </a:lnSpc>
            </a:pPr>
            <a:r>
              <a:rPr lang="en-US" sz="2000" dirty="0">
                <a:solidFill>
                  <a:srgbClr val="00000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1) _________________________ [BTech IT]</a:t>
            </a:r>
            <a:endParaRPr lang="en-US" sz="2000" dirty="0"/>
          </a:p>
          <a:p>
            <a:pPr algn="ctr">
              <a:lnSpc>
                <a:spcPct val="160000"/>
              </a:lnSpc>
            </a:pPr>
            <a:r>
              <a:rPr lang="en-US" sz="2000" dirty="0">
                <a:solidFill>
                  <a:srgbClr val="00000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2) _________________________ [BTech IT]</a:t>
            </a:r>
            <a:endParaRPr lang="en-US" sz="2000" dirty="0"/>
          </a:p>
          <a:p>
            <a:pPr algn="ctr">
              <a:lnSpc>
                <a:spcPct val="160000"/>
              </a:lnSpc>
            </a:pPr>
            <a:r>
              <a:rPr lang="en-US" sz="2000" dirty="0">
                <a:solidFill>
                  <a:srgbClr val="00000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3) _________________________ [BTech IT]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270000" y="6858000"/>
            <a:ext cx="13716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200" b="1" dirty="0">
                <a:solidFill>
                  <a:srgbClr val="000000"/>
                </a:solidFill>
                <a:latin typeface="Unna" pitchFamily="34" charset="0"/>
                <a:ea typeface="Unna" pitchFamily="34" charset="-122"/>
                <a:cs typeface="Unna" pitchFamily="34" charset="-120"/>
              </a:rPr>
              <a:t>Guided By: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1270000" y="7366000"/>
            <a:ext cx="13716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000" dirty="0">
                <a:solidFill>
                  <a:srgbClr val="00000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[Guide Name]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0" y="8128000"/>
            <a:ext cx="16256000" cy="1016000"/>
          </a:xfrm>
          <a:prstGeom prst="rect">
            <a:avLst/>
          </a:prstGeom>
          <a:solidFill>
            <a:srgbClr val="5B2D6E"/>
          </a:solidFill>
          <a:ln/>
        </p:spPr>
      </p:sp>
      <p:sp>
        <p:nvSpPr>
          <p:cNvPr id="14" name="Text 12"/>
          <p:cNvSpPr/>
          <p:nvPr/>
        </p:nvSpPr>
        <p:spPr>
          <a:xfrm>
            <a:off x="762000" y="8255000"/>
            <a:ext cx="1905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2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raisoni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762000" y="8585200"/>
            <a:ext cx="1905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3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EDUCATION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556000" y="8445500"/>
            <a:ext cx="11684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4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Nagpur | Pune | Jalgaon | Amravati | Pandhurna | Bhandara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3048000" y="8407400"/>
            <a:ext cx="12446000" cy="0"/>
          </a:xfrm>
          <a:prstGeom prst="straightConnector1">
            <a:avLst/>
          </a:prstGeom>
          <a:noFill/>
          <a:ln w="12700">
            <a:solidFill>
              <a:srgbClr val="FFFFFF"/>
            </a:solidFill>
            <a:prstDash val="solid"/>
            <a:headEnd type="none"/>
            <a:tailEnd type="none"/>
          </a:ln>
        </p:spPr>
      </p:sp>
    </p:spTree>
  </p:cSld>
  <p:clrMapOvr>
    <a:masterClrMapping/>
  </p:clrMapOvr>
  <p:transition>
    <p:fade/>
    <p:spd val="med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16000" y="635000"/>
            <a:ext cx="5080000" cy="698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4000" dirty="0">
                <a:solidFill>
                  <a:srgbClr val="E00000"/>
                </a:solidFill>
                <a:latin typeface="Unna" pitchFamily="34" charset="0"/>
                <a:ea typeface="Unna" pitchFamily="34" charset="-122"/>
                <a:cs typeface="Unna" pitchFamily="34" charset="-120"/>
              </a:rPr>
              <a:t>Introduction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1016000" y="1524000"/>
            <a:ext cx="14224000" cy="635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900" dirty="0">
                <a:solidFill>
                  <a:srgbClr val="00000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Modern applications are built using </a:t>
            </a:r>
            <a:pPr algn="l">
              <a:lnSpc>
                <a:spcPct val="150000"/>
              </a:lnSpc>
            </a:pPr>
            <a:r>
              <a:rPr lang="en-US" sz="1900" b="1" dirty="0">
                <a:solidFill>
                  <a:srgbClr val="00000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Microservice Architecture</a:t>
            </a:r>
            <a:pPr algn="l">
              <a:lnSpc>
                <a:spcPct val="150000"/>
              </a:lnSpc>
            </a:pPr>
            <a:r>
              <a:rPr lang="en-US" sz="1900" dirty="0">
                <a:solidFill>
                  <a:srgbClr val="00000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small, independent services communicating via APIs.</a:t>
            </a:r>
            <a:endParaRPr lang="en-US" sz="1900" dirty="0"/>
          </a:p>
          <a:p>
            <a:pPr algn="l">
              <a:lnSpc>
                <a:spcPct val="150000"/>
              </a:lnSpc>
            </a:pPr>
            <a:r>
              <a:rPr lang="en-US" sz="1900" dirty="0">
                <a:solidFill>
                  <a:srgbClr val="00000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APIs handle millions of requests daily (login, data fetch, payments, notifications) and represent the </a:t>
            </a:r>
            <a:pPr algn="l">
              <a:lnSpc>
                <a:spcPct val="150000"/>
              </a:lnSpc>
            </a:pPr>
            <a:r>
              <a:rPr lang="en-US" sz="1900" b="1" dirty="0">
                <a:solidFill>
                  <a:srgbClr val="00000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#1 attack surface</a:t>
            </a:r>
            <a:pPr algn="l">
              <a:lnSpc>
                <a:spcPct val="150000"/>
              </a:lnSpc>
            </a:pPr>
            <a:r>
              <a:rPr lang="en-US" sz="1900" dirty="0">
                <a:solidFill>
                  <a:srgbClr val="00000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in modern systems.</a:t>
            </a:r>
            <a:endParaRPr lang="en-US" sz="1900" dirty="0"/>
          </a:p>
          <a:p>
            <a:pPr algn="l">
              <a:lnSpc>
                <a:spcPct val="150000"/>
              </a:lnSpc>
            </a:pPr>
            <a:r>
              <a:rPr lang="en-US" sz="1900" dirty="0">
                <a:solidFill>
                  <a:srgbClr val="00000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Common API attacks include brute force, DDoS, scraping, and credential stuffing.</a:t>
            </a:r>
            <a:endParaRPr lang="en-US" sz="1900" dirty="0"/>
          </a:p>
          <a:p>
            <a:pPr algn="l">
              <a:lnSpc>
                <a:spcPct val="150000"/>
              </a:lnSpc>
            </a:pPr>
            <a:r>
              <a:rPr lang="en-US" sz="1900" b="1" dirty="0">
                <a:solidFill>
                  <a:srgbClr val="00000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Traditional defense:</a:t>
            </a:r>
            <a:pPr algn="l">
              <a:lnSpc>
                <a:spcPct val="150000"/>
              </a:lnSpc>
            </a:pPr>
            <a:r>
              <a:rPr lang="en-US" sz="1900" dirty="0">
                <a:solidFill>
                  <a:srgbClr val="00000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Static Rate Limiting — fixed rules like "block after 100 requests/min".</a:t>
            </a:r>
            <a:endParaRPr lang="en-US" sz="1900" dirty="0"/>
          </a:p>
          <a:p>
            <a:pPr algn="l">
              <a:lnSpc>
                <a:spcPct val="150000"/>
              </a:lnSpc>
            </a:pPr>
            <a:r>
              <a:rPr lang="en-US" sz="1900" b="1" dirty="0">
                <a:solidFill>
                  <a:srgbClr val="00000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Problem:</a:t>
            </a:r>
            <a:pPr algn="l">
              <a:lnSpc>
                <a:spcPct val="150000"/>
              </a:lnSpc>
            </a:pPr>
            <a:r>
              <a:rPr lang="en-US" sz="1900" dirty="0">
                <a:solidFill>
                  <a:srgbClr val="00000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Static rules cannot adapt to evolving attack patterns. They either allow sophisticated abuse to pass through or block legitimate traffic spikes.</a:t>
            </a:r>
            <a:endParaRPr lang="en-US" sz="1900" dirty="0"/>
          </a:p>
          <a:p>
            <a:pPr algn="l">
              <a:lnSpc>
                <a:spcPct val="150000"/>
              </a:lnSpc>
            </a:pPr>
            <a:r>
              <a:rPr lang="en-US" sz="1900" b="1" dirty="0">
                <a:solidFill>
                  <a:srgbClr val="00000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Solution:</a:t>
            </a:r>
            <a:pPr algn="l">
              <a:lnSpc>
                <a:spcPct val="150000"/>
              </a:lnSpc>
            </a:pPr>
            <a:r>
              <a:rPr lang="en-US" sz="1900" dirty="0">
                <a:solidFill>
                  <a:srgbClr val="00000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</a:t>
            </a:r>
            <a:pPr algn="l">
              <a:lnSpc>
                <a:spcPct val="150000"/>
              </a:lnSpc>
            </a:pPr>
            <a:r>
              <a:rPr lang="en-US" sz="1900" b="1" dirty="0">
                <a:solidFill>
                  <a:srgbClr val="00000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MicroAPI Guard</a:t>
            </a:r>
            <a:pPr algn="l">
              <a:lnSpc>
                <a:spcPct val="150000"/>
              </a:lnSpc>
            </a:pPr>
            <a:r>
              <a:rPr lang="en-US" sz="1900" dirty="0">
                <a:solidFill>
                  <a:srgbClr val="00000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an unsupervised anomaly detection system that learns normal API traffic behavior and flags deviations in real-time, without requiring labeled attack data.</a:t>
            </a:r>
            <a:endParaRPr lang="en-US" sz="1900" dirty="0"/>
          </a:p>
        </p:txBody>
      </p:sp>
    </p:spTree>
  </p:cSld>
  <p:clrMapOvr>
    <a:masterClrMapping/>
  </p:clrMapOvr>
  <p:transition>
    <p:fade/>
    <p:spd val="med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16000" y="635000"/>
            <a:ext cx="7620000" cy="698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4000" dirty="0">
                <a:solidFill>
                  <a:srgbClr val="E00000"/>
                </a:solidFill>
                <a:latin typeface="Unna" pitchFamily="34" charset="0"/>
                <a:ea typeface="Unna" pitchFamily="34" charset="-122"/>
                <a:cs typeface="Unna" pitchFamily="34" charset="-120"/>
              </a:rPr>
              <a:t>Problem Statement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1016000" y="1524000"/>
            <a:ext cx="14224000" cy="254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900" dirty="0">
                <a:solidFill>
                  <a:srgbClr val="00000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Traditional API rate-limiting and monitoring tools rely on </a:t>
            </a:r>
            <a:pPr algn="l">
              <a:lnSpc>
                <a:spcPct val="150000"/>
              </a:lnSpc>
            </a:pPr>
            <a:r>
              <a:rPr lang="en-US" sz="1900" b="1" dirty="0">
                <a:solidFill>
                  <a:srgbClr val="00000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static thresholds</a:t>
            </a:r>
            <a:pPr algn="l">
              <a:lnSpc>
                <a:spcPct val="150000"/>
              </a:lnSpc>
            </a:pPr>
            <a:r>
              <a:rPr lang="en-US" sz="1900" dirty="0">
                <a:solidFill>
                  <a:srgbClr val="00000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(e.g., "block after 100 requests/minute"), which cannot adapt to evolving traffic patterns.</a:t>
            </a:r>
            <a:endParaRPr lang="en-US" sz="1900" dirty="0"/>
          </a:p>
          <a:p>
            <a:pPr algn="l">
              <a:lnSpc>
                <a:spcPct val="150000"/>
              </a:lnSpc>
            </a:pPr>
            <a:r>
              <a:rPr lang="en-US" sz="1900" dirty="0">
                <a:solidFill>
                  <a:srgbClr val="00000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They either allow sophisticated abuse to pass through or block legitimate traffic spikes — resulting in </a:t>
            </a:r>
            <a:pPr algn="l">
              <a:lnSpc>
                <a:spcPct val="150000"/>
              </a:lnSpc>
            </a:pPr>
            <a:r>
              <a:rPr lang="en-US" sz="1900" b="1" dirty="0">
                <a:solidFill>
                  <a:srgbClr val="00000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high false positive rates</a:t>
            </a:r>
            <a:pPr algn="l">
              <a:lnSpc>
                <a:spcPct val="150000"/>
              </a:lnSpc>
            </a:pPr>
            <a:r>
              <a:rPr lang="en-US" sz="1900" dirty="0">
                <a:solidFill>
                  <a:srgbClr val="00000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.</a:t>
            </a:r>
            <a:endParaRPr lang="en-US" sz="1900" dirty="0"/>
          </a:p>
          <a:p>
            <a:pPr algn="l">
              <a:lnSpc>
                <a:spcPct val="150000"/>
              </a:lnSpc>
            </a:pPr>
            <a:r>
              <a:rPr lang="en-US" sz="1900" dirty="0">
                <a:solidFill>
                  <a:srgbClr val="00000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This project proposes an </a:t>
            </a:r>
            <a:pPr algn="l">
              <a:lnSpc>
                <a:spcPct val="150000"/>
              </a:lnSpc>
            </a:pPr>
            <a:r>
              <a:rPr lang="en-US" sz="1900" b="1" dirty="0">
                <a:solidFill>
                  <a:srgbClr val="00000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unsupervised anomaly detection system</a:t>
            </a:r>
            <a:pPr algn="l">
              <a:lnSpc>
                <a:spcPct val="150000"/>
              </a:lnSpc>
            </a:pPr>
            <a:r>
              <a:rPr lang="en-US" sz="1900" dirty="0">
                <a:solidFill>
                  <a:srgbClr val="00000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that learns normal API traffic behavior and flags deviations in real-time, without requiring labeled attack data.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1016000" y="4318000"/>
            <a:ext cx="635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900" b="1" dirty="0">
                <a:solidFill>
                  <a:srgbClr val="00000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Key Issues with Static Rate Limiting: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1270000" y="4826000"/>
            <a:ext cx="13970000" cy="292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01625" indent="-301625">
              <a:lnSpc>
                <a:spcPct val="155000"/>
              </a:lnSpc>
              <a:spcBef>
                <a:spcPts val="10"/>
              </a:spcBef>
              <a:buSzPct val="100000"/>
              <a:buChar char="•"/>
            </a:pPr>
            <a:r>
              <a:rPr lang="en-US" sz="1900" dirty="0">
                <a:solidFill>
                  <a:srgbClr val="00000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Same rule for all users — no adaptability</a:t>
            </a:r>
            <a:endParaRPr lang="en-US" sz="1900" dirty="0"/>
          </a:p>
          <a:p>
            <a:pPr algn="l" marL="301625" indent="-301625">
              <a:lnSpc>
                <a:spcPct val="155000"/>
              </a:lnSpc>
              <a:spcBef>
                <a:spcPts val="10"/>
              </a:spcBef>
              <a:buSzPct val="100000"/>
              <a:buChar char="•"/>
            </a:pPr>
            <a:r>
              <a:rPr lang="en-US" sz="1900" dirty="0">
                <a:solidFill>
                  <a:srgbClr val="00000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Legitimate users get blocked during traffic spikes</a:t>
            </a:r>
            <a:endParaRPr lang="en-US" sz="1900" dirty="0"/>
          </a:p>
          <a:p>
            <a:pPr algn="l" marL="301625" indent="-301625">
              <a:lnSpc>
                <a:spcPct val="155000"/>
              </a:lnSpc>
              <a:spcBef>
                <a:spcPts val="10"/>
              </a:spcBef>
              <a:buSzPct val="100000"/>
              <a:buChar char="•"/>
            </a:pPr>
            <a:r>
              <a:rPr lang="en-US" sz="1900" dirty="0">
                <a:solidFill>
                  <a:srgbClr val="00000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Smart attackers bypass by staying just under the limit</a:t>
            </a:r>
            <a:endParaRPr lang="en-US" sz="1900" dirty="0"/>
          </a:p>
          <a:p>
            <a:pPr algn="l" marL="301625" indent="-301625">
              <a:lnSpc>
                <a:spcPct val="155000"/>
              </a:lnSpc>
              <a:spcBef>
                <a:spcPts val="10"/>
              </a:spcBef>
              <a:buSzPct val="100000"/>
              <a:buChar char="•"/>
            </a:pPr>
            <a:r>
              <a:rPr lang="en-US" sz="1900" dirty="0">
                <a:solidFill>
                  <a:srgbClr val="00000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No learning from traffic patterns over time</a:t>
            </a:r>
            <a:endParaRPr lang="en-US" sz="1900" dirty="0"/>
          </a:p>
          <a:p>
            <a:pPr algn="l" marL="301625" indent="-301625">
              <a:lnSpc>
                <a:spcPct val="155000"/>
              </a:lnSpc>
              <a:spcBef>
                <a:spcPts val="10"/>
              </a:spcBef>
              <a:buSzPct val="100000"/>
              <a:buChar char="•"/>
            </a:pPr>
            <a:r>
              <a:rPr lang="en-US" sz="1900" dirty="0">
                <a:solidFill>
                  <a:srgbClr val="00000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High false positive rate (~18% as per Patel &amp; Sharma, 2023)</a:t>
            </a:r>
            <a:endParaRPr lang="en-US" sz="1900" dirty="0"/>
          </a:p>
        </p:txBody>
      </p:sp>
    </p:spTree>
  </p:cSld>
  <p:clrMapOvr>
    <a:masterClrMapping/>
  </p:clrMapOvr>
  <p:transition>
    <p:fade/>
    <p:spd val="med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16000" y="508000"/>
            <a:ext cx="889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4000" dirty="0">
                <a:solidFill>
                  <a:srgbClr val="E00000"/>
                </a:solidFill>
                <a:latin typeface="Unna" pitchFamily="34" charset="0"/>
                <a:ea typeface="Unna" pitchFamily="34" charset="-122"/>
                <a:cs typeface="Unna" pitchFamily="34" charset="-120"/>
              </a:rPr>
              <a:t>Existing System vs Proposed System</a:t>
            </a:r>
            <a:endParaRPr lang="en-US" sz="40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8000" y="1270000"/>
          <a:ext cx="15240000" cy="6731000"/>
        </p:xfrm>
        <a:graphic>
          <a:graphicData uri="http://schemas.openxmlformats.org/drawingml/2006/table">
            <a:tbl>
              <a:tblPr/>
              <a:tblGrid>
                <a:gridCol w="4267200"/>
                <a:gridCol w="5486400"/>
                <a:gridCol w="5486400"/>
              </a:tblGrid>
              <a:tr h="673100">
                <a:tc>
                  <a:txBody>
                    <a:bodyPr/>
                    <a:lstStyle/>
                    <a:p>
                      <a:pPr algn="ctr"/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Feature</a:t>
                      </a:r>
                      <a:endParaRPr lang="en-US" sz="13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Existing System (Static Rate Limiter)</a:t>
                      </a:r>
                      <a:endParaRPr lang="en-US" sz="13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Proposed System (MicroAPI Guard)</a:t>
                      </a:r>
                      <a:endParaRPr lang="en-US" sz="13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1009650">
                <a:tc>
                  <a:txBody>
                    <a:bodyPr/>
                    <a:lstStyle/>
                    <a:p>
                      <a:pPr algn="l"/>
                      <a:r>
                        <a:rPr lang="en-US" sz="1300" dirty="0">
                          <a:solidFill>
                            <a:srgbClr val="00000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Detection Method</a:t>
                      </a:r>
                      <a:endParaRPr lang="en-US" sz="13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00" dirty="0">
                          <a:solidFill>
                            <a:srgbClr val="00000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Fixed threshold (e.g., 100 req/min)</a:t>
                      </a:r>
                      <a:endParaRPr lang="en-US" sz="13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00" dirty="0">
                          <a:solidFill>
                            <a:srgbClr val="00000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ML-based pattern learning</a:t>
                      </a:r>
                      <a:endParaRPr lang="en-US" sz="13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009650">
                <a:tc>
                  <a:txBody>
                    <a:bodyPr/>
                    <a:lstStyle/>
                    <a:p>
                      <a:pPr algn="l"/>
                      <a:r>
                        <a:rPr lang="en-US" sz="1300" dirty="0">
                          <a:solidFill>
                            <a:srgbClr val="00000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Adaptability</a:t>
                      </a:r>
                      <a:endParaRPr lang="en-US" sz="13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00" dirty="0">
                          <a:solidFill>
                            <a:srgbClr val="00000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None</a:t>
                      </a:r>
                      <a:endParaRPr lang="en-US" sz="13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00" dirty="0">
                          <a:solidFill>
                            <a:srgbClr val="00000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Learns and adapts over time</a:t>
                      </a:r>
                      <a:endParaRPr lang="en-US" sz="13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009650">
                <a:tc>
                  <a:txBody>
                    <a:bodyPr/>
                    <a:lstStyle/>
                    <a:p>
                      <a:pPr algn="l"/>
                      <a:r>
                        <a:rPr lang="en-US" sz="1300" dirty="0">
                          <a:solidFill>
                            <a:srgbClr val="00000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Smart Attack Defense</a:t>
                      </a:r>
                      <a:endParaRPr lang="en-US" sz="13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00" dirty="0">
                          <a:solidFill>
                            <a:srgbClr val="00000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Bypassable (stay under limit)</a:t>
                      </a:r>
                      <a:endParaRPr lang="en-US" sz="13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00" dirty="0">
                          <a:solidFill>
                            <a:srgbClr val="00000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Detects pattern anomalies</a:t>
                      </a:r>
                      <a:endParaRPr lang="en-US" sz="13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009650">
                <a:tc>
                  <a:txBody>
                    <a:bodyPr/>
                    <a:lstStyle/>
                    <a:p>
                      <a:pPr algn="l"/>
                      <a:r>
                        <a:rPr lang="en-US" sz="1300" dirty="0">
                          <a:solidFill>
                            <a:srgbClr val="00000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False Positive Rate</a:t>
                      </a:r>
                      <a:endParaRPr lang="en-US" sz="13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00" dirty="0">
                          <a:solidFill>
                            <a:srgbClr val="00000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High (~18%)</a:t>
                      </a:r>
                      <a:endParaRPr lang="en-US" sz="13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00" dirty="0">
                          <a:solidFill>
                            <a:srgbClr val="00000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Low (~4%)</a:t>
                      </a:r>
                      <a:endParaRPr lang="en-US" sz="13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009650">
                <a:tc>
                  <a:txBody>
                    <a:bodyPr/>
                    <a:lstStyle/>
                    <a:p>
                      <a:pPr algn="l"/>
                      <a:r>
                        <a:rPr lang="en-US" sz="1300" dirty="0">
                          <a:solidFill>
                            <a:srgbClr val="00000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Labeled Data Needed</a:t>
                      </a:r>
                      <a:endParaRPr lang="en-US" sz="13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00" dirty="0">
                          <a:solidFill>
                            <a:srgbClr val="00000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N/A</a:t>
                      </a:r>
                      <a:endParaRPr lang="en-US" sz="13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00" dirty="0">
                          <a:solidFill>
                            <a:srgbClr val="00000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No (unsupervised)</a:t>
                      </a:r>
                      <a:endParaRPr lang="en-US" sz="13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009650">
                <a:tc>
                  <a:txBody>
                    <a:bodyPr/>
                    <a:lstStyle/>
                    <a:p>
                      <a:pPr algn="l"/>
                      <a:r>
                        <a:rPr lang="en-US" sz="1300" dirty="0">
                          <a:solidFill>
                            <a:srgbClr val="00000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Real-time Alerts</a:t>
                      </a:r>
                      <a:endParaRPr lang="en-US" sz="13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00" dirty="0">
                          <a:solidFill>
                            <a:srgbClr val="00000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No</a:t>
                      </a:r>
                      <a:endParaRPr lang="en-US" sz="13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00" dirty="0">
                          <a:solidFill>
                            <a:srgbClr val="00000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WebSocket live push</a:t>
                      </a:r>
                      <a:endParaRPr lang="en-US" sz="13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>
    <p:fade/>
    <p:spd val="med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16000" y="444500"/>
            <a:ext cx="635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4000" dirty="0">
                <a:solidFill>
                  <a:srgbClr val="E00000"/>
                </a:solidFill>
                <a:latin typeface="Unna" pitchFamily="34" charset="0"/>
                <a:ea typeface="Unna" pitchFamily="34" charset="-122"/>
                <a:cs typeface="Unna" pitchFamily="34" charset="-120"/>
              </a:rPr>
              <a:t>Literature Survey</a:t>
            </a:r>
            <a:endParaRPr lang="en-US" sz="40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81000" y="1143000"/>
          <a:ext cx="15494000" cy="7239000"/>
        </p:xfrm>
        <a:graphic>
          <a:graphicData uri="http://schemas.openxmlformats.org/drawingml/2006/table">
            <a:tbl>
              <a:tblPr/>
              <a:tblGrid>
                <a:gridCol w="619760"/>
                <a:gridCol w="2479040"/>
                <a:gridCol w="929640"/>
                <a:gridCol w="5887720"/>
                <a:gridCol w="5577840"/>
              </a:tblGrid>
              <a:tr h="470535">
                <a:tc>
                  <a:txBody>
                    <a:bodyPr/>
                    <a:lstStyle/>
                    <a:p>
                      <a:pPr algn="ctr"/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#</a:t>
                      </a:r>
                      <a:endParaRPr lang="en-US" sz="13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Author(s)</a:t>
                      </a:r>
                      <a:endParaRPr lang="en-US" sz="13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Year</a:t>
                      </a:r>
                      <a:endParaRPr lang="en-US" sz="13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Methodology</a:t>
                      </a:r>
                      <a:endParaRPr lang="en-US" sz="13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Limitation / Gap</a:t>
                      </a:r>
                      <a:endParaRPr lang="en-US" sz="13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846963">
                <a:tc>
                  <a:txBody>
                    <a:bodyPr/>
                    <a:lstStyle/>
                    <a:p>
                      <a:pPr algn="ctr"/>
                      <a:r>
                        <a:rPr lang="en-US" sz="1300" dirty="0">
                          <a:solidFill>
                            <a:srgbClr val="00000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1</a:t>
                      </a:r>
                      <a:endParaRPr lang="en-US" sz="13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dirty="0">
                          <a:solidFill>
                            <a:srgbClr val="00000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Liu et al.</a:t>
                      </a:r>
                      <a:endParaRPr lang="en-US" sz="13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dirty="0">
                          <a:solidFill>
                            <a:srgbClr val="00000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2020</a:t>
                      </a:r>
                      <a:endParaRPr lang="en-US" sz="13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00" dirty="0">
                          <a:solidFill>
                            <a:srgbClr val="00000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Isolation Forest on network traffic (UNSW-NB15 dataset)</a:t>
                      </a:r>
                      <a:endParaRPr lang="en-US" sz="13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00" dirty="0">
                          <a:solidFill>
                            <a:srgbClr val="00000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Not API-specific</a:t>
                      </a:r>
                      <a:endParaRPr lang="en-US" sz="13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46963">
                <a:tc>
                  <a:txBody>
                    <a:bodyPr/>
                    <a:lstStyle/>
                    <a:p>
                      <a:pPr algn="ctr"/>
                      <a:r>
                        <a:rPr lang="en-US" sz="1300" dirty="0">
                          <a:solidFill>
                            <a:srgbClr val="00000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2</a:t>
                      </a:r>
                      <a:endParaRPr lang="en-US" sz="13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dirty="0">
                          <a:solidFill>
                            <a:srgbClr val="00000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Ahmed &amp; Khan</a:t>
                      </a:r>
                      <a:endParaRPr lang="en-US" sz="13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dirty="0">
                          <a:solidFill>
                            <a:srgbClr val="00000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2021</a:t>
                      </a:r>
                      <a:endParaRPr lang="en-US" sz="13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00" dirty="0">
                          <a:solidFill>
                            <a:srgbClr val="00000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IF on REST API logs (91% precision)</a:t>
                      </a:r>
                      <a:endParaRPr lang="en-US" sz="13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00" dirty="0">
                          <a:solidFill>
                            <a:srgbClr val="00000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Single model, no comparison</a:t>
                      </a:r>
                      <a:endParaRPr lang="en-US" sz="13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46963">
                <a:tc>
                  <a:txBody>
                    <a:bodyPr/>
                    <a:lstStyle/>
                    <a:p>
                      <a:pPr algn="ctr"/>
                      <a:r>
                        <a:rPr lang="en-US" sz="1300" dirty="0">
                          <a:solidFill>
                            <a:srgbClr val="00000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3</a:t>
                      </a:r>
                      <a:endParaRPr lang="en-US" sz="13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dirty="0">
                          <a:solidFill>
                            <a:srgbClr val="00000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Zhang &amp; Wang</a:t>
                      </a:r>
                      <a:endParaRPr lang="en-US" sz="13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dirty="0">
                          <a:solidFill>
                            <a:srgbClr val="00000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2022</a:t>
                      </a:r>
                      <a:endParaRPr lang="en-US" sz="13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00" dirty="0">
                          <a:solidFill>
                            <a:srgbClr val="00000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Autoencoder for HTTP traffic (96.2% accuracy, CICIDS2017)</a:t>
                      </a:r>
                      <a:endParaRPr lang="en-US" sz="13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00" dirty="0">
                          <a:solidFill>
                            <a:srgbClr val="00000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Single model, no API deployment</a:t>
                      </a:r>
                      <a:endParaRPr lang="en-US" sz="13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46963">
                <a:tc>
                  <a:txBody>
                    <a:bodyPr/>
                    <a:lstStyle/>
                    <a:p>
                      <a:pPr algn="ctr"/>
                      <a:r>
                        <a:rPr lang="en-US" sz="1300" dirty="0">
                          <a:solidFill>
                            <a:srgbClr val="00000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4</a:t>
                      </a:r>
                      <a:endParaRPr lang="en-US" sz="13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dirty="0">
                          <a:solidFill>
                            <a:srgbClr val="00000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Kumar &amp; Reddy</a:t>
                      </a:r>
                      <a:endParaRPr lang="en-US" sz="13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dirty="0">
                          <a:solidFill>
                            <a:srgbClr val="00000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2022</a:t>
                      </a:r>
                      <a:endParaRPr lang="en-US" sz="13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00" dirty="0">
                          <a:solidFill>
                            <a:srgbClr val="00000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Survey of 40+ papers on API anomaly detection features</a:t>
                      </a:r>
                      <a:endParaRPr lang="en-US" sz="13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00" dirty="0">
                          <a:solidFill>
                            <a:srgbClr val="00000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No implementation</a:t>
                      </a:r>
                      <a:endParaRPr lang="en-US" sz="13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46963">
                <a:tc>
                  <a:txBody>
                    <a:bodyPr/>
                    <a:lstStyle/>
                    <a:p>
                      <a:pPr algn="ctr"/>
                      <a:r>
                        <a:rPr lang="en-US" sz="1300" dirty="0">
                          <a:solidFill>
                            <a:srgbClr val="00000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5</a:t>
                      </a:r>
                      <a:endParaRPr lang="en-US" sz="13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dirty="0">
                          <a:solidFill>
                            <a:srgbClr val="00000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Patel &amp; Sharma</a:t>
                      </a:r>
                      <a:endParaRPr lang="en-US" sz="13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dirty="0">
                          <a:solidFill>
                            <a:srgbClr val="00000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2023</a:t>
                      </a:r>
                      <a:endParaRPr lang="en-US" sz="13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00" dirty="0">
                          <a:solidFill>
                            <a:srgbClr val="00000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Static vs ML comparison (18% vs 4% FPR)</a:t>
                      </a:r>
                      <a:endParaRPr lang="en-US" sz="13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00" dirty="0">
                          <a:solidFill>
                            <a:srgbClr val="00000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Generic ML, not IF vs AE specific</a:t>
                      </a:r>
                      <a:endParaRPr lang="en-US" sz="13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46963">
                <a:tc>
                  <a:txBody>
                    <a:bodyPr/>
                    <a:lstStyle/>
                    <a:p>
                      <a:pPr algn="ctr"/>
                      <a:r>
                        <a:rPr lang="en-US" sz="1300" dirty="0">
                          <a:solidFill>
                            <a:srgbClr val="00000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6</a:t>
                      </a:r>
                      <a:endParaRPr lang="en-US" sz="13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dirty="0">
                          <a:solidFill>
                            <a:srgbClr val="00000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Sowmya M. et al.</a:t>
                      </a:r>
                      <a:endParaRPr lang="en-US" sz="13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dirty="0">
                          <a:solidFill>
                            <a:srgbClr val="00000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2023</a:t>
                      </a:r>
                      <a:endParaRPr lang="en-US" sz="13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00" dirty="0">
                          <a:solidFill>
                            <a:srgbClr val="00000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API-TAD: ML for API anomaly detection (IEEE CCGridW)</a:t>
                      </a:r>
                      <a:endParaRPr lang="en-US" sz="13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00" dirty="0">
                          <a:solidFill>
                            <a:srgbClr val="00000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No model comparison study</a:t>
                      </a:r>
                      <a:endParaRPr lang="en-US" sz="13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46963">
                <a:tc>
                  <a:txBody>
                    <a:bodyPr/>
                    <a:lstStyle/>
                    <a:p>
                      <a:pPr algn="ctr"/>
                      <a:r>
                        <a:rPr lang="en-US" sz="1300" dirty="0">
                          <a:solidFill>
                            <a:srgbClr val="00000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7</a:t>
                      </a:r>
                      <a:endParaRPr lang="en-US" sz="13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dirty="0">
                          <a:solidFill>
                            <a:srgbClr val="00000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CNN-AE Hybrid</a:t>
                      </a:r>
                      <a:endParaRPr lang="en-US" sz="13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dirty="0">
                          <a:solidFill>
                            <a:srgbClr val="00000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2024</a:t>
                      </a:r>
                      <a:endParaRPr lang="en-US" sz="13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00" dirty="0">
                          <a:solidFill>
                            <a:srgbClr val="00000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AE detects + CNN classifies anomaly types</a:t>
                      </a:r>
                      <a:endParaRPr lang="en-US" sz="13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00" dirty="0">
                          <a:solidFill>
                            <a:srgbClr val="00000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Complex architecture</a:t>
                      </a:r>
                      <a:endParaRPr lang="en-US" sz="13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39724">
                <a:tc>
                  <a:txBody>
                    <a:bodyPr/>
                    <a:lstStyle/>
                    <a:p>
                      <a:pPr algn="ctr"/>
                      <a:r>
                        <a:rPr lang="en-US" sz="1300" dirty="0">
                          <a:solidFill>
                            <a:srgbClr val="00000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8</a:t>
                      </a:r>
                      <a:endParaRPr lang="en-US" sz="13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dirty="0">
                          <a:solidFill>
                            <a:srgbClr val="00000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GCN-LSTM-AE</a:t>
                      </a:r>
                      <a:endParaRPr lang="en-US" sz="13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dirty="0">
                          <a:solidFill>
                            <a:srgbClr val="00000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2024</a:t>
                      </a:r>
                      <a:endParaRPr lang="en-US" sz="13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00" dirty="0">
                          <a:solidFill>
                            <a:srgbClr val="00000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Graph + temporal anomaly detection in microservices</a:t>
                      </a:r>
                      <a:endParaRPr lang="en-US" sz="13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00" dirty="0">
                          <a:solidFill>
                            <a:srgbClr val="00000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Heavy infrastructure needed</a:t>
                      </a:r>
                      <a:endParaRPr lang="en-US" sz="13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>
    <p:fade/>
    <p:spd val="med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16000" y="444500"/>
            <a:ext cx="889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4000" dirty="0">
                <a:solidFill>
                  <a:srgbClr val="E00000"/>
                </a:solidFill>
                <a:latin typeface="Unna" pitchFamily="34" charset="0"/>
                <a:ea typeface="Unna" pitchFamily="34" charset="-122"/>
                <a:cs typeface="Unna" pitchFamily="34" charset="-120"/>
              </a:rPr>
              <a:t>Literature Survey (Continued)</a:t>
            </a:r>
            <a:endParaRPr lang="en-US" sz="40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81000" y="1143000"/>
          <a:ext cx="15494000" cy="7239000"/>
        </p:xfrm>
        <a:graphic>
          <a:graphicData uri="http://schemas.openxmlformats.org/drawingml/2006/table">
            <a:tbl>
              <a:tblPr/>
              <a:tblGrid>
                <a:gridCol w="619760"/>
                <a:gridCol w="2479040"/>
                <a:gridCol w="929640"/>
                <a:gridCol w="5887720"/>
                <a:gridCol w="5577840"/>
              </a:tblGrid>
              <a:tr h="470535">
                <a:tc>
                  <a:txBody>
                    <a:bodyPr/>
                    <a:lstStyle/>
                    <a:p>
                      <a:pPr algn="ctr"/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#</a:t>
                      </a:r>
                      <a:endParaRPr lang="en-US" sz="13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Author(s)</a:t>
                      </a:r>
                      <a:endParaRPr lang="en-US" sz="13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Year</a:t>
                      </a:r>
                      <a:endParaRPr lang="en-US" sz="13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Methodology</a:t>
                      </a:r>
                      <a:endParaRPr lang="en-US" sz="13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Limitation / Gap</a:t>
                      </a:r>
                      <a:endParaRPr lang="en-US" sz="13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846963">
                <a:tc>
                  <a:txBody>
                    <a:bodyPr/>
                    <a:lstStyle/>
                    <a:p>
                      <a:pPr algn="ctr"/>
                      <a:r>
                        <a:rPr lang="en-US" sz="1300" dirty="0">
                          <a:solidFill>
                            <a:srgbClr val="00000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9</a:t>
                      </a:r>
                      <a:endParaRPr lang="en-US" sz="13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dirty="0">
                          <a:solidFill>
                            <a:srgbClr val="00000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IEEE IJCNN</a:t>
                      </a:r>
                      <a:endParaRPr lang="en-US" sz="13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dirty="0">
                          <a:solidFill>
                            <a:srgbClr val="00000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2024</a:t>
                      </a:r>
                      <a:endParaRPr lang="en-US" sz="13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00" dirty="0">
                          <a:solidFill>
                            <a:srgbClr val="00000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Optimizing AE for network anomaly detection</a:t>
                      </a:r>
                      <a:endParaRPr lang="en-US" sz="13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00" dirty="0">
                          <a:solidFill>
                            <a:srgbClr val="00000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No microservice context</a:t>
                      </a:r>
                      <a:endParaRPr lang="en-US" sz="13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46963">
                <a:tc>
                  <a:txBody>
                    <a:bodyPr/>
                    <a:lstStyle/>
                    <a:p>
                      <a:pPr algn="ctr"/>
                      <a:r>
                        <a:rPr lang="en-US" sz="1300" dirty="0">
                          <a:solidFill>
                            <a:srgbClr val="00000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10</a:t>
                      </a:r>
                      <a:endParaRPr lang="en-US" sz="13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dirty="0">
                          <a:solidFill>
                            <a:srgbClr val="00000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ML Comparison</a:t>
                      </a:r>
                      <a:endParaRPr lang="en-US" sz="13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dirty="0">
                          <a:solidFill>
                            <a:srgbClr val="00000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2024</a:t>
                      </a:r>
                      <a:endParaRPr lang="en-US" sz="13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00" dirty="0">
                          <a:solidFill>
                            <a:srgbClr val="00000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IF, LSTM, RF, SVM compared for microservice anomalies</a:t>
                      </a:r>
                      <a:endParaRPr lang="en-US" sz="13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00" dirty="0">
                          <a:solidFill>
                            <a:srgbClr val="00000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General anomaly, not API abuse focused</a:t>
                      </a:r>
                      <a:endParaRPr lang="en-US" sz="13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46963">
                <a:tc>
                  <a:txBody>
                    <a:bodyPr/>
                    <a:lstStyle/>
                    <a:p>
                      <a:pPr algn="ctr"/>
                      <a:r>
                        <a:rPr lang="en-US" sz="1300" dirty="0">
                          <a:solidFill>
                            <a:srgbClr val="00000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11</a:t>
                      </a:r>
                      <a:endParaRPr lang="en-US" sz="13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dirty="0">
                          <a:solidFill>
                            <a:srgbClr val="00000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Adaptive API Gateway</a:t>
                      </a:r>
                      <a:endParaRPr lang="en-US" sz="13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dirty="0">
                          <a:solidFill>
                            <a:srgbClr val="00000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2024</a:t>
                      </a:r>
                      <a:endParaRPr lang="en-US" sz="13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00" dirty="0">
                          <a:solidFill>
                            <a:srgbClr val="00000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Reinforcement Learning for dynamic rate limiting</a:t>
                      </a:r>
                      <a:endParaRPr lang="en-US" sz="13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00" dirty="0">
                          <a:solidFill>
                            <a:srgbClr val="00000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No IF vs AE comparison</a:t>
                      </a:r>
                      <a:endParaRPr lang="en-US" sz="13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46963">
                <a:tc>
                  <a:txBody>
                    <a:bodyPr/>
                    <a:lstStyle/>
                    <a:p>
                      <a:pPr algn="ctr"/>
                      <a:r>
                        <a:rPr lang="en-US" sz="1300" dirty="0">
                          <a:solidFill>
                            <a:srgbClr val="00000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12</a:t>
                      </a:r>
                      <a:endParaRPr lang="en-US" sz="13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dirty="0">
                          <a:solidFill>
                            <a:srgbClr val="00000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Preference IF</a:t>
                      </a:r>
                      <a:endParaRPr lang="en-US" sz="13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dirty="0">
                          <a:solidFill>
                            <a:srgbClr val="00000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2025</a:t>
                      </a:r>
                      <a:endParaRPr lang="en-US" sz="13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00" dirty="0">
                          <a:solidFill>
                            <a:srgbClr val="00000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New IF variant for high-dimensional spaces</a:t>
                      </a:r>
                      <a:endParaRPr lang="en-US" sz="13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00" dirty="0">
                          <a:solidFill>
                            <a:srgbClr val="00000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Not API-specific</a:t>
                      </a:r>
                      <a:endParaRPr lang="en-US" sz="13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46963">
                <a:tc>
                  <a:txBody>
                    <a:bodyPr/>
                    <a:lstStyle/>
                    <a:p>
                      <a:pPr algn="ctr"/>
                      <a:r>
                        <a:rPr lang="en-US" sz="1300" dirty="0">
                          <a:solidFill>
                            <a:srgbClr val="00000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13</a:t>
                      </a:r>
                      <a:endParaRPr lang="en-US" sz="13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dirty="0">
                          <a:solidFill>
                            <a:srgbClr val="00000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AI-Driven Log Detection</a:t>
                      </a:r>
                      <a:endParaRPr lang="en-US" sz="13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dirty="0">
                          <a:solidFill>
                            <a:srgbClr val="00000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2025</a:t>
                      </a:r>
                      <a:endParaRPr lang="en-US" sz="13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00" dirty="0">
                          <a:solidFill>
                            <a:srgbClr val="00000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Self-learning IF for dynamic microservices</a:t>
                      </a:r>
                      <a:endParaRPr lang="en-US" sz="13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00" dirty="0">
                          <a:solidFill>
                            <a:srgbClr val="00000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Single model approach</a:t>
                      </a:r>
                      <a:endParaRPr lang="en-US" sz="13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46963">
                <a:tc>
                  <a:txBody>
                    <a:bodyPr/>
                    <a:lstStyle/>
                    <a:p>
                      <a:pPr algn="ctr"/>
                      <a:r>
                        <a:rPr lang="en-US" sz="1300" dirty="0">
                          <a:solidFill>
                            <a:srgbClr val="00000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14</a:t>
                      </a:r>
                      <a:endParaRPr lang="en-US" sz="13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dirty="0">
                          <a:solidFill>
                            <a:srgbClr val="00000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Bagade et al. (ObserveX)</a:t>
                      </a:r>
                      <a:endParaRPr lang="en-US" sz="13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dirty="0">
                          <a:solidFill>
                            <a:srgbClr val="00000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2025</a:t>
                      </a:r>
                      <a:endParaRPr lang="en-US" sz="13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00" dirty="0">
                          <a:solidFill>
                            <a:srgbClr val="00000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IF+LSTM ensemble + Kafka + Flink + GenAI</a:t>
                      </a:r>
                      <a:endParaRPr lang="en-US" sz="13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00" dirty="0">
                          <a:solidFill>
                            <a:srgbClr val="00000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Heavy infra (Kafka, Flink, OTel)</a:t>
                      </a:r>
                      <a:endParaRPr lang="en-US" sz="13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46963">
                <a:tc>
                  <a:txBody>
                    <a:bodyPr/>
                    <a:lstStyle/>
                    <a:p>
                      <a:pPr algn="ctr"/>
                      <a:r>
                        <a:rPr lang="en-US" sz="1300" dirty="0">
                          <a:solidFill>
                            <a:srgbClr val="00000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15</a:t>
                      </a:r>
                      <a:endParaRPr lang="en-US" sz="13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dirty="0">
                          <a:solidFill>
                            <a:srgbClr val="00000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Multi-Level Ensemble</a:t>
                      </a:r>
                      <a:endParaRPr lang="en-US" sz="13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dirty="0">
                          <a:solidFill>
                            <a:srgbClr val="00000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2026</a:t>
                      </a:r>
                      <a:endParaRPr lang="en-US" sz="13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00" dirty="0">
                          <a:solidFill>
                            <a:srgbClr val="00000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Statistical + IF + adaptive thresholding</a:t>
                      </a:r>
                      <a:endParaRPr lang="en-US" sz="13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00" dirty="0">
                          <a:solidFill>
                            <a:srgbClr val="00000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Complex, enterprise-only focus</a:t>
                      </a:r>
                      <a:endParaRPr lang="en-US" sz="13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>
    <p:fade/>
    <p:spd val="med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16000" y="635000"/>
            <a:ext cx="6350000" cy="698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4000" dirty="0">
                <a:solidFill>
                  <a:srgbClr val="E00000"/>
                </a:solidFill>
                <a:latin typeface="Unna" pitchFamily="34" charset="0"/>
                <a:ea typeface="Unna" pitchFamily="34" charset="-122"/>
                <a:cs typeface="Unna" pitchFamily="34" charset="-120"/>
              </a:rPr>
              <a:t>Research Gap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1016000" y="1524000"/>
            <a:ext cx="4445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b="1" dirty="0">
                <a:solidFill>
                  <a:srgbClr val="00000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Category 1: Single Model Papers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270000" y="1930400"/>
            <a:ext cx="6604000" cy="1079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5000"/>
              </a:lnSpc>
            </a:pPr>
            <a:r>
              <a:rPr lang="en-US" sz="1700" dirty="0">
                <a:solidFill>
                  <a:srgbClr val="00000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Liu (2020), Ahmed (2021), Zhang (2022)</a:t>
            </a:r>
            <a:endParaRPr lang="en-US" sz="1700" dirty="0"/>
          </a:p>
          <a:p>
            <a:pPr algn="l">
              <a:lnSpc>
                <a:spcPct val="145000"/>
              </a:lnSpc>
            </a:pPr>
            <a:r>
              <a:rPr lang="en-US" sz="1700" dirty="0">
                <a:solidFill>
                  <a:srgbClr val="00000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No comparison between models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1016000" y="3149600"/>
            <a:ext cx="4445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b="1" dirty="0">
                <a:solidFill>
                  <a:srgbClr val="00000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Category 2: Generic Comparisons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270000" y="3556000"/>
            <a:ext cx="6604000" cy="1079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5000"/>
              </a:lnSpc>
            </a:pPr>
            <a:r>
              <a:rPr lang="en-US" sz="1700" dirty="0">
                <a:solidFill>
                  <a:srgbClr val="00000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Patel (2023), ML Comparison (2024)</a:t>
            </a:r>
            <a:endParaRPr lang="en-US" sz="1700" dirty="0"/>
          </a:p>
          <a:p>
            <a:pPr algn="l">
              <a:lnSpc>
                <a:spcPct val="145000"/>
              </a:lnSpc>
            </a:pPr>
            <a:r>
              <a:rPr lang="en-US" sz="1700" dirty="0">
                <a:solidFill>
                  <a:srgbClr val="00000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Not specifically IF vs AE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8382000" y="1524000"/>
            <a:ext cx="4445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b="1" dirty="0">
                <a:solidFill>
                  <a:srgbClr val="00000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Category 3: Heavy Frameworks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636000" y="1930400"/>
            <a:ext cx="6604000" cy="1079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5000"/>
              </a:lnSpc>
            </a:pPr>
            <a:r>
              <a:rPr lang="en-US" sz="1700" dirty="0">
                <a:solidFill>
                  <a:srgbClr val="00000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ObserveX (2025), GCN-LSTM-AE (2024)</a:t>
            </a:r>
            <a:endParaRPr lang="en-US" sz="1700" dirty="0"/>
          </a:p>
          <a:p>
            <a:pPr algn="l">
              <a:lnSpc>
                <a:spcPct val="145000"/>
              </a:lnSpc>
            </a:pPr>
            <a:r>
              <a:rPr lang="en-US" sz="1700" dirty="0">
                <a:solidFill>
                  <a:srgbClr val="00000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Kafka, Flink, OpenTelemetry required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1016000" y="4699000"/>
            <a:ext cx="14224000" cy="1968500"/>
          </a:xfrm>
          <a:prstGeom prst="rect">
            <a:avLst/>
          </a:prstGeom>
          <a:solidFill>
            <a:srgbClr val="F5F5F5"/>
          </a:solidFill>
          <a:ln w="12700">
            <a:solidFill>
              <a:srgbClr val="E0000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270000" y="4800600"/>
            <a:ext cx="13716000" cy="184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50000"/>
              </a:lnSpc>
            </a:pPr>
            <a:r>
              <a:rPr lang="en-US" sz="1900" b="1" dirty="0">
                <a:solidFill>
                  <a:srgbClr val="00000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OUR CONTRIBUTION</a:t>
            </a:r>
            <a:endParaRPr lang="en-US" sz="1900" dirty="0"/>
          </a:p>
          <a:p>
            <a:pPr algn="ctr">
              <a:lnSpc>
                <a:spcPct val="150000"/>
              </a:lnSpc>
            </a:pPr>
            <a:r>
              <a:rPr lang="en-US" sz="1900" dirty="0">
                <a:solidFill>
                  <a:srgbClr val="00000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Lightweight, Focused 3-Way Comparison:</a:t>
            </a:r>
            <a:endParaRPr lang="en-US" sz="1900" dirty="0"/>
          </a:p>
          <a:p>
            <a:pPr algn="ctr">
              <a:lnSpc>
                <a:spcPct val="150000"/>
              </a:lnSpc>
            </a:pPr>
            <a:r>
              <a:rPr lang="en-US" sz="1900" b="1" dirty="0">
                <a:solidFill>
                  <a:srgbClr val="00000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Isolation Forest vs Autoencoder vs Static Threshold</a:t>
            </a:r>
            <a:endParaRPr lang="en-US" sz="1900" dirty="0"/>
          </a:p>
          <a:p>
            <a:pPr algn="ctr">
              <a:lnSpc>
                <a:spcPct val="150000"/>
              </a:lnSpc>
            </a:pPr>
            <a:r>
              <a:rPr lang="en-US" sz="1900" dirty="0">
                <a:solidFill>
                  <a:srgbClr val="00000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for API Abuse Detection in Microservices (No Kafka/Flink/OTel needed)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1016000" y="6858000"/>
            <a:ext cx="142240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800" b="1" dirty="0">
                <a:solidFill>
                  <a:srgbClr val="00000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Key Insight:</a:t>
            </a:r>
            <a:pPr algn="l">
              <a:lnSpc>
                <a:spcPct val="150000"/>
              </a:lnSpc>
            </a:pPr>
            <a:r>
              <a:rPr lang="en-US" sz="1800" dirty="0">
                <a:solidFill>
                  <a:srgbClr val="00000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No existing paper specifically compares Isolation Forest vs Autoencoder vs Static Threshold in a lightweight, deployable setup for API abuse detection in microservices. MicroAPI Guard fills this gap.</a:t>
            </a:r>
            <a:endParaRPr lang="en-US" sz="1800" dirty="0"/>
          </a:p>
        </p:txBody>
      </p:sp>
    </p:spTree>
  </p:cSld>
  <p:clrMapOvr>
    <a:masterClrMapping/>
  </p:clrMapOvr>
  <p:transition>
    <p:fade/>
    <p:spd val="med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16000" y="508000"/>
            <a:ext cx="889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4000" dirty="0">
                <a:solidFill>
                  <a:srgbClr val="E00000"/>
                </a:solidFill>
                <a:latin typeface="Unna" pitchFamily="34" charset="0"/>
                <a:ea typeface="Unna" pitchFamily="34" charset="-122"/>
                <a:cs typeface="Unna" pitchFamily="34" charset="-120"/>
              </a:rPr>
              <a:t>Proposed System Architecture</a:t>
            </a:r>
            <a:endParaRPr lang="en-US" sz="4000" dirty="0"/>
          </a:p>
        </p:txBody>
      </p:sp>
      <p:pic>
        <p:nvPicPr>
          <p:cNvPr id="3" name="Image 0" descr="https://kimi-img.moonshot.cn/pub/slides/okc/hv7n7qbr7ip2i/mnt/agents/output/microapiguard/images/architecture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016000" y="1270000"/>
            <a:ext cx="14224000" cy="60960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16000" y="7493000"/>
            <a:ext cx="142240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40000"/>
              </a:lnSpc>
            </a:pPr>
            <a:r>
              <a:rPr lang="en-US" sz="1600" b="1" dirty="0">
                <a:solidFill>
                  <a:srgbClr val="00000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Flow:</a:t>
            </a:r>
            <a:pPr algn="ctr">
              <a:lnSpc>
                <a:spcPct val="140000"/>
              </a:lnSpc>
            </a:pPr>
            <a:r>
              <a:rPr lang="en-US" sz="1600" dirty="0">
                <a:solidFill>
                  <a:srgbClr val="00000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Client Request → Spring Boot Gateway → Interceptor (feature extraction) → Feature Vector → FastAPI ML Service (IF + AE + Static) → Anomaly Score → PostgreSQL + React Dashboard (WebSocket alerts)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16000" y="444500"/>
            <a:ext cx="889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4000" dirty="0">
                <a:solidFill>
                  <a:srgbClr val="E00000"/>
                </a:solidFill>
                <a:latin typeface="Unna" pitchFamily="34" charset="0"/>
                <a:ea typeface="Unna" pitchFamily="34" charset="-122"/>
                <a:cs typeface="Unna" pitchFamily="34" charset="-120"/>
              </a:rPr>
              <a:t>Feature Set — Per Request</a:t>
            </a:r>
            <a:endParaRPr lang="en-US" sz="40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016000" y="1206500"/>
          <a:ext cx="14224000" cy="7112000"/>
        </p:xfrm>
        <a:graphic>
          <a:graphicData uri="http://schemas.openxmlformats.org/drawingml/2006/table">
            <a:tbl>
              <a:tblPr/>
              <a:tblGrid>
                <a:gridCol w="3982720"/>
                <a:gridCol w="2133600"/>
                <a:gridCol w="8107680"/>
              </a:tblGrid>
              <a:tr h="533400">
                <a:tc>
                  <a:txBody>
                    <a:bodyPr/>
                    <a:lstStyle/>
                    <a:p>
                      <a:pPr algn="ctr"/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Feature</a:t>
                      </a:r>
                      <a:endParaRPr lang="en-US" sz="13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Type</a:t>
                      </a:r>
                      <a:endParaRPr lang="en-US" sz="13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Why It Matters</a:t>
                      </a:r>
                      <a:endParaRPr lang="en-US" sz="13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728980">
                <a:tc>
                  <a:txBody>
                    <a:bodyPr/>
                    <a:lstStyle/>
                    <a:p>
                      <a:pPr algn="l"/>
                      <a:r>
                        <a:rPr lang="en-US" sz="1300" dirty="0">
                          <a:solidFill>
                            <a:srgbClr val="00000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timestamp</a:t>
                      </a:r>
                      <a:endParaRPr lang="en-US" sz="13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dirty="0">
                          <a:solidFill>
                            <a:srgbClr val="00000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DateTime</a:t>
                      </a:r>
                      <a:endParaRPr lang="en-US" sz="13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00" dirty="0">
                          <a:solidFill>
                            <a:srgbClr val="00000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Detect time-of-day patterns (3 AM attacks)</a:t>
                      </a:r>
                      <a:endParaRPr lang="en-US" sz="13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28980">
                <a:tc>
                  <a:txBody>
                    <a:bodyPr/>
                    <a:lstStyle/>
                    <a:p>
                      <a:pPr algn="l"/>
                      <a:r>
                        <a:rPr lang="en-US" sz="1300" dirty="0">
                          <a:solidFill>
                            <a:srgbClr val="00000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endpoint</a:t>
                      </a:r>
                      <a:endParaRPr lang="en-US" sz="13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dirty="0">
                          <a:solidFill>
                            <a:srgbClr val="00000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Category</a:t>
                      </a:r>
                      <a:endParaRPr lang="en-US" sz="13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00" dirty="0">
                          <a:solidFill>
                            <a:srgbClr val="00000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Which API is targeted (/login vs /jobs)</a:t>
                      </a:r>
                      <a:endParaRPr lang="en-US" sz="13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28980">
                <a:tc>
                  <a:txBody>
                    <a:bodyPr/>
                    <a:lstStyle/>
                    <a:p>
                      <a:pPr algn="l"/>
                      <a:r>
                        <a:rPr lang="en-US" sz="1300" dirty="0">
                          <a:solidFill>
                            <a:srgbClr val="00000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HTTP method</a:t>
                      </a:r>
                      <a:endParaRPr lang="en-US" sz="13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dirty="0">
                          <a:solidFill>
                            <a:srgbClr val="00000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Category</a:t>
                      </a:r>
                      <a:endParaRPr lang="en-US" sz="13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00" dirty="0">
                          <a:solidFill>
                            <a:srgbClr val="00000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Unusual DELETE/PUT spikes</a:t>
                      </a:r>
                      <a:endParaRPr lang="en-US" sz="13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28980">
                <a:tc>
                  <a:txBody>
                    <a:bodyPr/>
                    <a:lstStyle/>
                    <a:p>
                      <a:pPr algn="l"/>
                      <a:r>
                        <a:rPr lang="en-US" sz="1300" dirty="0">
                          <a:solidFill>
                            <a:srgbClr val="00000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source_ip</a:t>
                      </a:r>
                      <a:endParaRPr lang="en-US" sz="13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dirty="0">
                          <a:solidFill>
                            <a:srgbClr val="00000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Category</a:t>
                      </a:r>
                      <a:endParaRPr lang="en-US" sz="13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00" dirty="0">
                          <a:solidFill>
                            <a:srgbClr val="00000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Per-IP behavior tracking</a:t>
                      </a:r>
                      <a:endParaRPr lang="en-US" sz="13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28980">
                <a:tc>
                  <a:txBody>
                    <a:bodyPr/>
                    <a:lstStyle/>
                    <a:p>
                      <a:pPr algn="l"/>
                      <a:r>
                        <a:rPr lang="en-US" sz="1300" dirty="0">
                          <a:solidFill>
                            <a:srgbClr val="00000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response_time_ms</a:t>
                      </a:r>
                      <a:endParaRPr lang="en-US" sz="13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dirty="0">
                          <a:solidFill>
                            <a:srgbClr val="00000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Numeric</a:t>
                      </a:r>
                      <a:endParaRPr lang="en-US" sz="13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00" dirty="0">
                          <a:solidFill>
                            <a:srgbClr val="00000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Latency spike = possible issue</a:t>
                      </a:r>
                      <a:endParaRPr lang="en-US" sz="13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28980">
                <a:tc>
                  <a:txBody>
                    <a:bodyPr/>
                    <a:lstStyle/>
                    <a:p>
                      <a:pPr algn="l"/>
                      <a:r>
                        <a:rPr lang="en-US" sz="1300" dirty="0">
                          <a:solidFill>
                            <a:srgbClr val="00000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payload_size_bytes</a:t>
                      </a:r>
                      <a:endParaRPr lang="en-US" sz="13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dirty="0">
                          <a:solidFill>
                            <a:srgbClr val="00000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Numeric</a:t>
                      </a:r>
                      <a:endParaRPr lang="en-US" sz="13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00" dirty="0">
                          <a:solidFill>
                            <a:srgbClr val="00000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Large payloads = possible attack</a:t>
                      </a:r>
                      <a:endParaRPr lang="en-US" sz="13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28980">
                <a:tc>
                  <a:txBody>
                    <a:bodyPr/>
                    <a:lstStyle/>
                    <a:p>
                      <a:pPr algn="l"/>
                      <a:r>
                        <a:rPr lang="en-US" sz="1300" dirty="0">
                          <a:solidFill>
                            <a:srgbClr val="00000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status_code</a:t>
                      </a:r>
                      <a:endParaRPr lang="en-US" sz="13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dirty="0">
                          <a:solidFill>
                            <a:srgbClr val="00000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Numeric</a:t>
                      </a:r>
                      <a:endParaRPr lang="en-US" sz="13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00" dirty="0">
                          <a:solidFill>
                            <a:srgbClr val="00000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4xx/5xx spikes = problems</a:t>
                      </a:r>
                      <a:endParaRPr lang="en-US" sz="13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28980">
                <a:tc>
                  <a:txBody>
                    <a:bodyPr/>
                    <a:lstStyle/>
                    <a:p>
                      <a:pPr algn="l"/>
                      <a:r>
                        <a:rPr lang="en-US" sz="1300" dirty="0">
                          <a:solidFill>
                            <a:srgbClr val="00000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requests_in_last_60s</a:t>
                      </a:r>
                      <a:endParaRPr lang="en-US" sz="13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dirty="0">
                          <a:solidFill>
                            <a:srgbClr val="00000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Numeric</a:t>
                      </a:r>
                      <a:endParaRPr lang="en-US" sz="13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00" dirty="0">
                          <a:solidFill>
                            <a:srgbClr val="00000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Rolling window rate per IP</a:t>
                      </a:r>
                      <a:endParaRPr lang="en-US" sz="13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28980">
                <a:tc>
                  <a:txBody>
                    <a:bodyPr/>
                    <a:lstStyle/>
                    <a:p>
                      <a:pPr algn="l"/>
                      <a:r>
                        <a:rPr lang="en-US" sz="1300" dirty="0">
                          <a:solidFill>
                            <a:srgbClr val="00000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user_id</a:t>
                      </a:r>
                      <a:endParaRPr lang="en-US" sz="13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dirty="0">
                          <a:solidFill>
                            <a:srgbClr val="00000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Category</a:t>
                      </a:r>
                      <a:endParaRPr lang="en-US" sz="13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00" dirty="0">
                          <a:solidFill>
                            <a:srgbClr val="00000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Authenticated user tracking</a:t>
                      </a:r>
                      <a:endParaRPr lang="en-US" sz="13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>
    <p:fade/>
    <p:spd val="med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16000" y="635000"/>
            <a:ext cx="7620000" cy="698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4000" dirty="0">
                <a:solidFill>
                  <a:srgbClr val="E00000"/>
                </a:solidFill>
                <a:latin typeface="Unna" pitchFamily="34" charset="0"/>
                <a:ea typeface="Unna" pitchFamily="34" charset="-122"/>
                <a:cs typeface="Unna" pitchFamily="34" charset="-120"/>
              </a:rPr>
              <a:t>Model 1: Isolation Forest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1016000" y="1460500"/>
            <a:ext cx="635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b="1" dirty="0">
                <a:solidFill>
                  <a:srgbClr val="00000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Type:</a:t>
            </a:r>
            <a:pPr algn="l">
              <a:lnSpc>
                <a:spcPct val="120000"/>
              </a:lnSpc>
            </a:pPr>
            <a:r>
              <a:rPr lang="en-US" sz="1800" dirty="0">
                <a:solidFill>
                  <a:srgbClr val="00000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Unsupervised, Tree-based | </a:t>
            </a:r>
            <a:pPr algn="l">
              <a:lnSpc>
                <a:spcPct val="120000"/>
              </a:lnSpc>
            </a:pPr>
            <a:r>
              <a:rPr lang="en-US" sz="1800" b="1" dirty="0">
                <a:solidFill>
                  <a:srgbClr val="00000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Library:</a:t>
            </a:r>
            <a:pPr algn="l">
              <a:lnSpc>
                <a:spcPct val="120000"/>
              </a:lnSpc>
            </a:pPr>
            <a:r>
              <a:rPr lang="en-US" sz="1800" dirty="0">
                <a:solidFill>
                  <a:srgbClr val="00000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scikit-learn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016000" y="1930400"/>
            <a:ext cx="14224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900" b="1" dirty="0">
                <a:solidFill>
                  <a:srgbClr val="00000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Core Idea:</a:t>
            </a:r>
            <a:pPr algn="l">
              <a:lnSpc>
                <a:spcPct val="120000"/>
              </a:lnSpc>
            </a:pPr>
            <a:r>
              <a:rPr lang="en-US" sz="1900" dirty="0">
                <a:solidFill>
                  <a:srgbClr val="00000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"Anomalies are FEW and DIFFERENT — easy to isolate"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1016000" y="2476500"/>
            <a:ext cx="381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900" b="1" dirty="0">
                <a:solidFill>
                  <a:srgbClr val="00000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How It Works: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1270000" y="2895600"/>
            <a:ext cx="13970000" cy="165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85750" indent="-285750">
              <a:lnSpc>
                <a:spcPct val="150000"/>
              </a:lnSpc>
              <a:spcBef>
                <a:spcPts val="10"/>
              </a:spcBef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Builds random decision trees with random splits</a:t>
            </a:r>
            <a:endParaRPr lang="en-US" sz="1800" dirty="0"/>
          </a:p>
          <a:p>
            <a:pPr algn="l" marL="285750" indent="-285750">
              <a:lnSpc>
                <a:spcPct val="150000"/>
              </a:lnSpc>
              <a:spcBef>
                <a:spcPts val="10"/>
              </a:spcBef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Normal points need MANY splits (in crowd)</a:t>
            </a:r>
            <a:endParaRPr lang="en-US" sz="1800" dirty="0"/>
          </a:p>
          <a:p>
            <a:pPr algn="l" marL="285750" indent="-285750">
              <a:lnSpc>
                <a:spcPct val="150000"/>
              </a:lnSpc>
              <a:spcBef>
                <a:spcPts val="10"/>
              </a:spcBef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Anomaly points need FEW splits (isolated early)</a:t>
            </a:r>
            <a:endParaRPr lang="en-US" sz="1800" dirty="0"/>
          </a:p>
          <a:p>
            <a:pPr algn="l" marL="285750" indent="-285750">
              <a:lnSpc>
                <a:spcPct val="150000"/>
              </a:lnSpc>
              <a:spcBef>
                <a:spcPts val="10"/>
              </a:spcBef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Short average path length = High anomaly score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16000" y="4699000"/>
            <a:ext cx="635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b="1" dirty="0">
                <a:solidFill>
                  <a:srgbClr val="00000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Key Parameter:</a:t>
            </a:r>
            <a:pPr algn="l">
              <a:lnSpc>
                <a:spcPct val="120000"/>
              </a:lnSpc>
            </a:pPr>
            <a:r>
              <a:rPr lang="en-US" sz="1800" dirty="0">
                <a:solidFill>
                  <a:srgbClr val="00000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contamination = 0.05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16000" y="5207000"/>
            <a:ext cx="381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900" b="1" dirty="0">
                <a:solidFill>
                  <a:srgbClr val="00000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Advantages: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1270000" y="5626100"/>
            <a:ext cx="13970000" cy="165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85750" indent="-285750">
              <a:lnSpc>
                <a:spcPct val="150000"/>
              </a:lnSpc>
              <a:spcBef>
                <a:spcPts val="10"/>
              </a:spcBef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Fast inference (milliseconds)</a:t>
            </a:r>
            <a:endParaRPr lang="en-US" sz="1800" dirty="0"/>
          </a:p>
          <a:p>
            <a:pPr algn="l" marL="285750" indent="-285750">
              <a:lnSpc>
                <a:spcPct val="150000"/>
              </a:lnSpc>
              <a:spcBef>
                <a:spcPts val="10"/>
              </a:spcBef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CPU-only — no GPU needed</a:t>
            </a:r>
            <a:endParaRPr lang="en-US" sz="1800" dirty="0"/>
          </a:p>
          <a:p>
            <a:pPr algn="l" marL="285750" indent="-285750">
              <a:lnSpc>
                <a:spcPct val="150000"/>
              </a:lnSpc>
              <a:spcBef>
                <a:spcPts val="10"/>
              </a:spcBef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Interpretable anomaly scores</a:t>
            </a:r>
            <a:endParaRPr lang="en-US" sz="1800" dirty="0"/>
          </a:p>
          <a:p>
            <a:pPr algn="l" marL="285750" indent="-285750">
              <a:lnSpc>
                <a:spcPct val="150000"/>
              </a:lnSpc>
              <a:spcBef>
                <a:spcPts val="10"/>
              </a:spcBef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No labeled data required</a:t>
            </a:r>
            <a:endParaRPr lang="en-US" sz="1800" dirty="0"/>
          </a:p>
        </p:txBody>
      </p:sp>
    </p:spTree>
  </p:cSld>
  <p:clrMapOvr>
    <a:masterClrMapping/>
  </p:clrMapOvr>
  <p:transition>
    <p:fade/>
    <p:spd val="med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16000" y="635000"/>
            <a:ext cx="8890000" cy="698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4000" dirty="0">
                <a:solidFill>
                  <a:srgbClr val="E00000"/>
                </a:solidFill>
                <a:latin typeface="Unna" pitchFamily="34" charset="0"/>
                <a:ea typeface="Unna" pitchFamily="34" charset="-122"/>
                <a:cs typeface="Unna" pitchFamily="34" charset="-120"/>
              </a:rPr>
              <a:t>Model 2: Autoencoder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1016000" y="1460500"/>
            <a:ext cx="6858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b="1" dirty="0">
                <a:solidFill>
                  <a:srgbClr val="00000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Type:</a:t>
            </a:r>
            <a:pPr algn="l">
              <a:lnSpc>
                <a:spcPct val="120000"/>
              </a:lnSpc>
            </a:pPr>
            <a:r>
              <a:rPr lang="en-US" sz="1800" dirty="0">
                <a:solidFill>
                  <a:srgbClr val="00000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Unsupervised Deep Learning | </a:t>
            </a:r>
            <a:pPr algn="l">
              <a:lnSpc>
                <a:spcPct val="120000"/>
              </a:lnSpc>
            </a:pPr>
            <a:r>
              <a:rPr lang="en-US" sz="1800" b="1" dirty="0">
                <a:solidFill>
                  <a:srgbClr val="00000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Library:</a:t>
            </a:r>
            <a:pPr algn="l">
              <a:lnSpc>
                <a:spcPct val="120000"/>
              </a:lnSpc>
            </a:pPr>
            <a:r>
              <a:rPr lang="en-US" sz="1800" dirty="0">
                <a:solidFill>
                  <a:srgbClr val="00000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TensorFlow/Keras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016000" y="1930400"/>
            <a:ext cx="14224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900" b="1" dirty="0">
                <a:solidFill>
                  <a:srgbClr val="00000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Core Idea:</a:t>
            </a:r>
            <a:pPr algn="l">
              <a:lnSpc>
                <a:spcPct val="120000"/>
              </a:lnSpc>
            </a:pPr>
            <a:r>
              <a:rPr lang="en-US" sz="1900" dirty="0">
                <a:solidFill>
                  <a:srgbClr val="00000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"Train on NORMAL data — high reconstruction error = anomaly"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1016000" y="2476500"/>
            <a:ext cx="381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900" b="1" dirty="0">
                <a:solidFill>
                  <a:srgbClr val="00000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Architecture: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1270000" y="2895600"/>
            <a:ext cx="13970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800" dirty="0">
                <a:solidFill>
                  <a:srgbClr val="00000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Input(9) → Dense(16, ReLU) → Dense(8, ReLU) → Dense(16, ReLU) → Output(9, Sigmoid)</a:t>
            </a:r>
            <a:endParaRPr lang="en-US" sz="1800" dirty="0"/>
          </a:p>
          <a:p>
            <a:pPr algn="ctr">
              <a:lnSpc>
                <a:spcPct val="150000"/>
              </a:lnSpc>
            </a:pPr>
            <a:r>
              <a:rPr lang="en-US" sz="1800" dirty="0">
                <a:solidFill>
                  <a:srgbClr val="00000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Encoder → Bottleneck(8) → Decoder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16000" y="3873500"/>
            <a:ext cx="508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900" b="1" dirty="0">
                <a:solidFill>
                  <a:srgbClr val="00000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Anomaly Detection: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1270000" y="4292600"/>
            <a:ext cx="139700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85750" indent="-285750">
              <a:lnSpc>
                <a:spcPct val="150000"/>
              </a:lnSpc>
              <a:spcBef>
                <a:spcPts val="10"/>
              </a:spcBef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Trained ONLY on normal traffic data</a:t>
            </a:r>
            <a:endParaRPr lang="en-US" sz="1800" dirty="0"/>
          </a:p>
          <a:p>
            <a:pPr algn="l" marL="285750" indent="-285750">
              <a:lnSpc>
                <a:spcPct val="150000"/>
              </a:lnSpc>
              <a:spcBef>
                <a:spcPts val="10"/>
              </a:spcBef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Normal input → low reconstruction error</a:t>
            </a:r>
            <a:endParaRPr lang="en-US" sz="1800" dirty="0"/>
          </a:p>
          <a:p>
            <a:pPr algn="l" marL="285750" indent="-285750">
              <a:lnSpc>
                <a:spcPct val="150000"/>
              </a:lnSpc>
              <a:spcBef>
                <a:spcPts val="10"/>
              </a:spcBef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Anomaly input → HIGH reconstruction error → FLAGGED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016000" y="5715000"/>
            <a:ext cx="381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900" b="1" dirty="0">
                <a:solidFill>
                  <a:srgbClr val="00000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Advantages: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1270000" y="6134100"/>
            <a:ext cx="139700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85750" indent="-285750">
              <a:lnSpc>
                <a:spcPct val="150000"/>
              </a:lnSpc>
              <a:spcBef>
                <a:spcPts val="10"/>
              </a:spcBef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Captures non-linear patterns</a:t>
            </a:r>
            <a:endParaRPr lang="en-US" sz="1800" dirty="0"/>
          </a:p>
          <a:p>
            <a:pPr algn="l" marL="285750" indent="-285750">
              <a:lnSpc>
                <a:spcPct val="150000"/>
              </a:lnSpc>
              <a:spcBef>
                <a:spcPts val="10"/>
              </a:spcBef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Works with complex feature relationships</a:t>
            </a:r>
            <a:endParaRPr lang="en-US" sz="1800" dirty="0"/>
          </a:p>
          <a:p>
            <a:pPr algn="l" marL="285750" indent="-285750">
              <a:lnSpc>
                <a:spcPct val="150000"/>
              </a:lnSpc>
              <a:spcBef>
                <a:spcPts val="10"/>
              </a:spcBef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CPU-trainable for our data scale</a:t>
            </a:r>
            <a:endParaRPr lang="en-US" sz="1800" dirty="0"/>
          </a:p>
        </p:txBody>
      </p:sp>
    </p:spTree>
  </p:cSld>
  <p:clrMapOvr>
    <a:masterClrMapping/>
  </p:clrMapOvr>
  <p:transition>
    <p:fade/>
    <p:spd val="med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16000" y="635000"/>
            <a:ext cx="8890000" cy="698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4000" dirty="0">
                <a:solidFill>
                  <a:srgbClr val="E00000"/>
                </a:solidFill>
                <a:latin typeface="Unna" pitchFamily="34" charset="0"/>
                <a:ea typeface="Unna" pitchFamily="34" charset="-122"/>
                <a:cs typeface="Unna" pitchFamily="34" charset="-120"/>
              </a:rPr>
              <a:t>Model 3: Static Threshold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1016000" y="1460500"/>
            <a:ext cx="762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b="1" dirty="0">
                <a:solidFill>
                  <a:srgbClr val="00000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Type:</a:t>
            </a:r>
            <a:pPr algn="l">
              <a:lnSpc>
                <a:spcPct val="120000"/>
              </a:lnSpc>
            </a:pPr>
            <a:r>
              <a:rPr lang="en-US" sz="1800" dirty="0">
                <a:solidFill>
                  <a:srgbClr val="00000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Traditional Rule-Based | </a:t>
            </a:r>
            <a:pPr algn="l">
              <a:lnSpc>
                <a:spcPct val="120000"/>
              </a:lnSpc>
            </a:pPr>
            <a:r>
              <a:rPr lang="en-US" sz="1800" b="1" dirty="0">
                <a:solidFill>
                  <a:srgbClr val="00000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Implementation:</a:t>
            </a:r>
            <a:pPr algn="l">
              <a:lnSpc>
                <a:spcPct val="120000"/>
              </a:lnSpc>
            </a:pPr>
            <a:r>
              <a:rPr lang="en-US" sz="1800" dirty="0">
                <a:solidFill>
                  <a:srgbClr val="00000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Java in Spring Boot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016000" y="1968500"/>
            <a:ext cx="14224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900" b="1" dirty="0">
                <a:solidFill>
                  <a:srgbClr val="00000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Purpose:</a:t>
            </a:r>
            <a:pPr algn="l">
              <a:lnSpc>
                <a:spcPct val="150000"/>
              </a:lnSpc>
            </a:pPr>
            <a:r>
              <a:rPr lang="en-US" sz="1900" dirty="0">
                <a:solidFill>
                  <a:srgbClr val="00000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Acts as CONTROL GROUP for fair comparison. Represents the "existing system" / industry standard. Our hypothesis: ML models will outperform this baseline.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1016000" y="2984500"/>
            <a:ext cx="508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900" b="1" dirty="0">
                <a:solidFill>
                  <a:srgbClr val="00000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Example Rules: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1270000" y="3429000"/>
            <a:ext cx="139700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85750" indent="-285750">
              <a:lnSpc>
                <a:spcPct val="150000"/>
              </a:lnSpc>
              <a:spcBef>
                <a:spcPts val="10"/>
              </a:spcBef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/login: max 10 requests/min per IP</a:t>
            </a:r>
            <a:endParaRPr lang="en-US" sz="1800" dirty="0"/>
          </a:p>
          <a:p>
            <a:pPr algn="l" marL="285750" indent="-285750">
              <a:lnSpc>
                <a:spcPct val="150000"/>
              </a:lnSpc>
              <a:spcBef>
                <a:spcPts val="10"/>
              </a:spcBef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/api/jobs: max 50 requests/min per IP</a:t>
            </a:r>
            <a:endParaRPr lang="en-US" sz="1800" dirty="0"/>
          </a:p>
          <a:p>
            <a:pPr algn="l" marL="285750" indent="-285750">
              <a:lnSpc>
                <a:spcPct val="150000"/>
              </a:lnSpc>
              <a:spcBef>
                <a:spcPts val="10"/>
              </a:spcBef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Global: max 100 requests/min per IP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16000" y="4826000"/>
            <a:ext cx="508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900" b="1" dirty="0">
                <a:solidFill>
                  <a:srgbClr val="00000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Known Limitations: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1270000" y="5270500"/>
            <a:ext cx="13970000" cy="254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85750" indent="-285750">
              <a:lnSpc>
                <a:spcPct val="150000"/>
              </a:lnSpc>
              <a:spcBef>
                <a:spcPts val="10"/>
              </a:spcBef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High false positive rate (~18%)</a:t>
            </a:r>
            <a:endParaRPr lang="en-US" sz="1800" dirty="0"/>
          </a:p>
          <a:p>
            <a:pPr algn="l" marL="285750" indent="-285750">
              <a:lnSpc>
                <a:spcPct val="150000"/>
              </a:lnSpc>
              <a:spcBef>
                <a:spcPts val="10"/>
              </a:spcBef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Smart attackers bypass by staying under limit</a:t>
            </a:r>
            <a:endParaRPr lang="en-US" sz="1800" dirty="0"/>
          </a:p>
          <a:p>
            <a:pPr algn="l" marL="285750" indent="-285750">
              <a:lnSpc>
                <a:spcPct val="150000"/>
              </a:lnSpc>
              <a:spcBef>
                <a:spcPts val="10"/>
              </a:spcBef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Cannot adapt to changing traffic patterns</a:t>
            </a:r>
            <a:endParaRPr lang="en-US" sz="1800" dirty="0"/>
          </a:p>
          <a:p>
            <a:pPr algn="l" marL="285750" indent="-285750">
              <a:lnSpc>
                <a:spcPct val="150000"/>
              </a:lnSpc>
              <a:spcBef>
                <a:spcPts val="10"/>
              </a:spcBef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Blocks legitimate traffic spikes</a:t>
            </a:r>
            <a:endParaRPr lang="en-US" sz="1800" dirty="0"/>
          </a:p>
          <a:p>
            <a:pPr algn="l" marL="285750" indent="-285750">
              <a:lnSpc>
                <a:spcPct val="150000"/>
              </a:lnSpc>
              <a:spcBef>
                <a:spcPts val="10"/>
              </a:spcBef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No learning, no adaptation — same rule for all users</a:t>
            </a:r>
            <a:endParaRPr lang="en-US" sz="1800" dirty="0"/>
          </a:p>
        </p:txBody>
      </p:sp>
    </p:spTree>
  </p:cSld>
  <p:clrMapOvr>
    <a:masterClrMapping/>
  </p:clrMapOvr>
  <p:transition>
    <p:fade/>
    <p:spd val="med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16000" y="444500"/>
            <a:ext cx="889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4000" dirty="0">
                <a:solidFill>
                  <a:srgbClr val="E00000"/>
                </a:solidFill>
                <a:latin typeface="Unna" pitchFamily="34" charset="0"/>
                <a:ea typeface="Unna" pitchFamily="34" charset="-122"/>
                <a:cs typeface="Unna" pitchFamily="34" charset="-120"/>
              </a:rPr>
              <a:t>Implementation Plan (12 Weeks)</a:t>
            </a:r>
            <a:endParaRPr lang="en-US" sz="40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8000" y="1206500"/>
          <a:ext cx="15240000" cy="7112000"/>
        </p:xfrm>
        <a:graphic>
          <a:graphicData uri="http://schemas.openxmlformats.org/drawingml/2006/table">
            <a:tbl>
              <a:tblPr/>
              <a:tblGrid>
                <a:gridCol w="2286000"/>
                <a:gridCol w="2286000"/>
                <a:gridCol w="10668000"/>
              </a:tblGrid>
              <a:tr h="568960">
                <a:tc>
                  <a:txBody>
                    <a:bodyPr/>
                    <a:lstStyle/>
                    <a:p>
                      <a:pPr algn="ctr"/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Phase</a:t>
                      </a:r>
                      <a:endParaRPr lang="en-US" sz="13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Duration</a:t>
                      </a:r>
                      <a:endParaRPr lang="en-US" sz="13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Tasks</a:t>
                      </a:r>
                      <a:endParaRPr lang="en-US" sz="13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1635760">
                <a:tc>
                  <a:txBody>
                    <a:bodyPr/>
                    <a:lstStyle/>
                    <a:p>
                      <a:pPr algn="ctr"/>
                      <a:r>
                        <a:rPr lang="en-US" sz="1300" dirty="0">
                          <a:solidFill>
                            <a:srgbClr val="00000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Phase 1</a:t>
                      </a:r>
                      <a:endParaRPr lang="en-US" sz="13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dirty="0">
                          <a:solidFill>
                            <a:srgbClr val="00000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Week 1-3</a:t>
                      </a:r>
                      <a:endParaRPr lang="en-US" sz="13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marL="206375" indent="-206375">
                        <a:spcBef>
                          <a:spcPts val="10"/>
                        </a:spcBef>
                        <a:buSzPct val="100000"/>
                        <a:buChar char="•"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Set up Spring Boot API surface</a:t>
                      </a:r>
                      <a:endParaRPr lang="en-US" sz="13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  <a:p>
                      <a:pPr algn="l" marL="206375" indent="-206375">
                        <a:spcBef>
                          <a:spcPts val="10"/>
                        </a:spcBef>
                        <a:buSzPct val="100000"/>
                        <a:buChar char="•"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Build logging interceptor</a:t>
                      </a:r>
                      <a:endParaRPr lang="en-US" sz="13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  <a:p>
                      <a:pPr algn="l" marL="206375" indent="-206375">
                        <a:spcBef>
                          <a:spcPts val="10"/>
                        </a:spcBef>
                        <a:buSzPct val="100000"/>
                        <a:buChar char="•"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Create traffic generator script</a:t>
                      </a:r>
                      <a:endParaRPr lang="en-US" sz="13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  <a:p>
                      <a:pPr algn="l" marL="206375" indent="-206375">
                        <a:spcBef>
                          <a:spcPts val="10"/>
                        </a:spcBef>
                        <a:buSzPct val="100000"/>
                        <a:buChar char="•"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Feature engineering &amp; data collection</a:t>
                      </a:r>
                      <a:endParaRPr lang="en-US" sz="13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635760">
                <a:tc>
                  <a:txBody>
                    <a:bodyPr/>
                    <a:lstStyle/>
                    <a:p>
                      <a:pPr algn="ctr"/>
                      <a:r>
                        <a:rPr lang="en-US" sz="1300" dirty="0">
                          <a:solidFill>
                            <a:srgbClr val="00000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Phase 2</a:t>
                      </a:r>
                      <a:endParaRPr lang="en-US" sz="13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dirty="0">
                          <a:solidFill>
                            <a:srgbClr val="00000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Week 4-7</a:t>
                      </a:r>
                      <a:endParaRPr lang="en-US" sz="13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marL="206375" indent="-206375">
                        <a:spcBef>
                          <a:spcPts val="10"/>
                        </a:spcBef>
                        <a:buSzPct val="100000"/>
                        <a:buChar char="•"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Train Isolation Forest model</a:t>
                      </a:r>
                      <a:endParaRPr lang="en-US" sz="13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  <a:p>
                      <a:pPr algn="l" marL="206375" indent="-206375">
                        <a:spcBef>
                          <a:spcPts val="10"/>
                        </a:spcBef>
                        <a:buSzPct val="100000"/>
                        <a:buChar char="•"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Train Autoencoder model</a:t>
                      </a:r>
                      <a:endParaRPr lang="en-US" sz="13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  <a:p>
                      <a:pPr algn="l" marL="206375" indent="-206375">
                        <a:spcBef>
                          <a:spcPts val="10"/>
                        </a:spcBef>
                        <a:buSzPct val="100000"/>
                        <a:buChar char="•"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Implement static threshold baseline</a:t>
                      </a:r>
                      <a:endParaRPr lang="en-US" sz="13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  <a:p>
                      <a:pPr algn="l" marL="206375" indent="-206375">
                        <a:spcBef>
                          <a:spcPts val="10"/>
                        </a:spcBef>
                        <a:buSzPct val="100000"/>
                        <a:buChar char="•"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Tune hyperparameters</a:t>
                      </a:r>
                      <a:endParaRPr lang="en-US" sz="13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635760">
                <a:tc>
                  <a:txBody>
                    <a:bodyPr/>
                    <a:lstStyle/>
                    <a:p>
                      <a:pPr algn="ctr"/>
                      <a:r>
                        <a:rPr lang="en-US" sz="1300" dirty="0">
                          <a:solidFill>
                            <a:srgbClr val="00000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Phase 3</a:t>
                      </a:r>
                      <a:endParaRPr lang="en-US" sz="13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dirty="0">
                          <a:solidFill>
                            <a:srgbClr val="00000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Week 8-10</a:t>
                      </a:r>
                      <a:endParaRPr lang="en-US" sz="13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marL="206375" indent="-206375">
                        <a:spcBef>
                          <a:spcPts val="10"/>
                        </a:spcBef>
                        <a:buSzPct val="100000"/>
                        <a:buChar char="•"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Build FastAPI ML microservice</a:t>
                      </a:r>
                      <a:endParaRPr lang="en-US" sz="13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  <a:p>
                      <a:pPr algn="l" marL="206375" indent="-206375">
                        <a:spcBef>
                          <a:spcPts val="10"/>
                        </a:spcBef>
                        <a:buSzPct val="100000"/>
                        <a:buChar char="•"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Integrate with Spring Boot</a:t>
                      </a:r>
                      <a:endParaRPr lang="en-US" sz="13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  <a:p>
                      <a:pPr algn="l" marL="206375" indent="-206375">
                        <a:spcBef>
                          <a:spcPts val="10"/>
                        </a:spcBef>
                        <a:buSzPct val="100000"/>
                        <a:buChar char="•"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Build React dashboard</a:t>
                      </a:r>
                      <a:endParaRPr lang="en-US" sz="13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  <a:p>
                      <a:pPr algn="l" marL="206375" indent="-206375">
                        <a:spcBef>
                          <a:spcPts val="10"/>
                        </a:spcBef>
                        <a:buSzPct val="100000"/>
                        <a:buChar char="•"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WebSocket real-time alerts</a:t>
                      </a:r>
                      <a:endParaRPr lang="en-US" sz="13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635760">
                <a:tc>
                  <a:txBody>
                    <a:bodyPr/>
                    <a:lstStyle/>
                    <a:p>
                      <a:pPr algn="ctr"/>
                      <a:r>
                        <a:rPr lang="en-US" sz="1300" dirty="0">
                          <a:solidFill>
                            <a:srgbClr val="00000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Phase 4</a:t>
                      </a:r>
                      <a:endParaRPr lang="en-US" sz="13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dirty="0">
                          <a:solidFill>
                            <a:srgbClr val="00000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Week 11-12</a:t>
                      </a:r>
                      <a:endParaRPr lang="en-US" sz="13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marL="206375" indent="-206375">
                        <a:spcBef>
                          <a:spcPts val="10"/>
                        </a:spcBef>
                        <a:buSzPct val="100000"/>
                        <a:buChar char="•"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Run all 3 models on same dataset</a:t>
                      </a:r>
                      <a:endParaRPr lang="en-US" sz="13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  <a:p>
                      <a:pPr algn="l" marL="206375" indent="-206375">
                        <a:spcBef>
                          <a:spcPts val="10"/>
                        </a:spcBef>
                        <a:buSzPct val="100000"/>
                        <a:buChar char="•"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Calculate evaluation metrics</a:t>
                      </a:r>
                      <a:endParaRPr lang="en-US" sz="13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  <a:p>
                      <a:pPr algn="l" marL="206375" indent="-206375">
                        <a:spcBef>
                          <a:spcPts val="10"/>
                        </a:spcBef>
                        <a:buSzPct val="100000"/>
                        <a:buChar char="•"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Write IEEE research paper</a:t>
                      </a:r>
                      <a:endParaRPr lang="en-US" sz="13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  <a:p>
                      <a:pPr algn="l" marL="206375" indent="-206375">
                        <a:spcBef>
                          <a:spcPts val="10"/>
                        </a:spcBef>
                        <a:buSzPct val="100000"/>
                        <a:buChar char="•"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Final testing &amp; documentation</a:t>
                      </a:r>
                      <a:endParaRPr lang="en-US" sz="13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>
    <p:fade/>
    <p:spd val="med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16000" y="635000"/>
            <a:ext cx="7620000" cy="698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4000" dirty="0">
                <a:solidFill>
                  <a:srgbClr val="E00000"/>
                </a:solidFill>
                <a:latin typeface="Unna" pitchFamily="34" charset="0"/>
                <a:ea typeface="Unna" pitchFamily="34" charset="-122"/>
                <a:cs typeface="Unna" pitchFamily="34" charset="-120"/>
              </a:rPr>
              <a:t>Evaluation Metrics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1016000" y="1524000"/>
            <a:ext cx="14224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900" dirty="0">
                <a:solidFill>
                  <a:srgbClr val="00000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All 3 models will be evaluated on the </a:t>
            </a:r>
            <a:pPr algn="l">
              <a:lnSpc>
                <a:spcPct val="120000"/>
              </a:lnSpc>
            </a:pPr>
            <a:r>
              <a:rPr lang="en-US" sz="1900" b="1" dirty="0">
                <a:solidFill>
                  <a:srgbClr val="00000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SAME dataset</a:t>
            </a:r>
            <a:pPr algn="l">
              <a:lnSpc>
                <a:spcPct val="120000"/>
              </a:lnSpc>
            </a:pPr>
            <a:r>
              <a:rPr lang="en-US" sz="1900" dirty="0">
                <a:solidFill>
                  <a:srgbClr val="00000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for fair comparison.</a:t>
            </a:r>
            <a:endParaRPr lang="en-US" sz="19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016000" y="2159000"/>
          <a:ext cx="14224000" cy="5334000"/>
        </p:xfrm>
        <a:graphic>
          <a:graphicData uri="http://schemas.openxmlformats.org/drawingml/2006/table">
            <a:tbl>
              <a:tblPr/>
              <a:tblGrid>
                <a:gridCol w="3982720"/>
                <a:gridCol w="10241280"/>
              </a:tblGrid>
              <a:tr h="640080">
                <a:tc>
                  <a:txBody>
                    <a:bodyPr/>
                    <a:lstStyle/>
                    <a:p>
                      <a:pPr algn="ctr"/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Metric</a:t>
                      </a:r>
                      <a:endParaRPr lang="en-US" sz="13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What It Measures</a:t>
                      </a:r>
                      <a:endParaRPr lang="en-US" sz="13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938784">
                <a:tc>
                  <a:txBody>
                    <a:bodyPr/>
                    <a:lstStyle/>
                    <a:p>
                      <a:pPr algn="l"/>
                      <a:r>
                        <a:rPr lang="en-US" sz="1300" dirty="0">
                          <a:solidFill>
                            <a:srgbClr val="00000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Precision</a:t>
                      </a:r>
                      <a:endParaRPr lang="en-US" sz="13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00" dirty="0">
                          <a:solidFill>
                            <a:srgbClr val="00000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Of all flagged requests, how many were actually attacks?</a:t>
                      </a:r>
                      <a:endParaRPr lang="en-US" sz="13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938784">
                <a:tc>
                  <a:txBody>
                    <a:bodyPr/>
                    <a:lstStyle/>
                    <a:p>
                      <a:pPr algn="l"/>
                      <a:r>
                        <a:rPr lang="en-US" sz="1300" dirty="0">
                          <a:solidFill>
                            <a:srgbClr val="00000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Recall</a:t>
                      </a:r>
                      <a:endParaRPr lang="en-US" sz="13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00" dirty="0">
                          <a:solidFill>
                            <a:srgbClr val="00000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Of all actual attacks, how many were correctly caught?</a:t>
                      </a:r>
                      <a:endParaRPr lang="en-US" sz="13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938784">
                <a:tc>
                  <a:txBody>
                    <a:bodyPr/>
                    <a:lstStyle/>
                    <a:p>
                      <a:pPr algn="l"/>
                      <a:r>
                        <a:rPr lang="en-US" sz="1300" dirty="0">
                          <a:solidFill>
                            <a:srgbClr val="00000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F1-Score</a:t>
                      </a:r>
                      <a:endParaRPr lang="en-US" sz="13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00" dirty="0">
                          <a:solidFill>
                            <a:srgbClr val="00000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Harmonic mean of Precision &amp; Recall (balanced measure)</a:t>
                      </a:r>
                      <a:endParaRPr lang="en-US" sz="13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938784">
                <a:tc>
                  <a:txBody>
                    <a:bodyPr/>
                    <a:lstStyle/>
                    <a:p>
                      <a:pPr algn="l"/>
                      <a:r>
                        <a:rPr lang="en-US" sz="1300" dirty="0">
                          <a:solidFill>
                            <a:srgbClr val="00000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False Positive Rate</a:t>
                      </a:r>
                      <a:endParaRPr lang="en-US" sz="13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00" dirty="0">
                          <a:solidFill>
                            <a:srgbClr val="00000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How many legitimate requests were wrongly flagged as attacks?</a:t>
                      </a:r>
                      <a:endParaRPr lang="en-US" sz="13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938784">
                <a:tc>
                  <a:txBody>
                    <a:bodyPr/>
                    <a:lstStyle/>
                    <a:p>
                      <a:pPr algn="l"/>
                      <a:r>
                        <a:rPr lang="en-US" sz="1300" dirty="0">
                          <a:solidFill>
                            <a:srgbClr val="00000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Detection Latency</a:t>
                      </a:r>
                      <a:endParaRPr lang="en-US" sz="13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00" dirty="0">
                          <a:solidFill>
                            <a:srgbClr val="00000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Time taken to flag an attack (ms) — critical for real-time systems</a:t>
                      </a:r>
                      <a:endParaRPr lang="en-US" sz="13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>
    <p:fade/>
    <p:spd val="med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16000" y="635000"/>
            <a:ext cx="8890000" cy="698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4000" dirty="0">
                <a:solidFill>
                  <a:srgbClr val="E00000"/>
                </a:solidFill>
                <a:latin typeface="Unna" pitchFamily="34" charset="0"/>
                <a:ea typeface="Unna" pitchFamily="34" charset="-122"/>
                <a:cs typeface="Unna" pitchFamily="34" charset="-120"/>
              </a:rPr>
              <a:t>Expected Results (Hypothesis)</a:t>
            </a:r>
            <a:endParaRPr lang="en-US" sz="40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524000" y="1587500"/>
          <a:ext cx="13208000" cy="3175000"/>
        </p:xfrm>
        <a:graphic>
          <a:graphicData uri="http://schemas.openxmlformats.org/drawingml/2006/table">
            <a:tbl>
              <a:tblPr/>
              <a:tblGrid>
                <a:gridCol w="3698240"/>
                <a:gridCol w="2377440"/>
                <a:gridCol w="2377440"/>
                <a:gridCol w="2377440"/>
                <a:gridCol w="2377440"/>
              </a:tblGrid>
              <a:tr h="698500">
                <a:tc>
                  <a:txBody>
                    <a:bodyPr/>
                    <a:lstStyle/>
                    <a:p>
                      <a:pPr algn="ctr"/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Model</a:t>
                      </a:r>
                      <a:endParaRPr lang="en-US" sz="13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Precision</a:t>
                      </a:r>
                      <a:endParaRPr lang="en-US" sz="13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Recall</a:t>
                      </a:r>
                      <a:endParaRPr lang="en-US" sz="13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FPR</a:t>
                      </a:r>
                      <a:endParaRPr lang="en-US" sz="13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Speed</a:t>
                      </a:r>
                      <a:endParaRPr lang="en-US" sz="13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825500">
                <a:tc>
                  <a:txBody>
                    <a:bodyPr/>
                    <a:lstStyle/>
                    <a:p>
                      <a:pPr algn="l"/>
                      <a:r>
                        <a:rPr lang="en-US" sz="1300" dirty="0">
                          <a:solidFill>
                            <a:srgbClr val="00000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Static Threshold</a:t>
                      </a:r>
                      <a:endParaRPr lang="en-US" sz="13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dirty="0">
                          <a:solidFill>
                            <a:srgbClr val="00000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~75%</a:t>
                      </a:r>
                      <a:endParaRPr lang="en-US" sz="13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dirty="0">
                          <a:solidFill>
                            <a:srgbClr val="00000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~70%</a:t>
                      </a:r>
                      <a:endParaRPr lang="en-US" sz="13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dirty="0">
                          <a:solidFill>
                            <a:srgbClr val="00000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~18%</a:t>
                      </a:r>
                      <a:endParaRPr lang="en-US" sz="13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dirty="0">
                          <a:solidFill>
                            <a:srgbClr val="00000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Fast</a:t>
                      </a:r>
                      <a:endParaRPr lang="en-US" sz="13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25500">
                <a:tc>
                  <a:txBody>
                    <a:bodyPr/>
                    <a:lstStyle/>
                    <a:p>
                      <a:pPr algn="l"/>
                      <a:r>
                        <a:rPr lang="en-US" sz="1300" dirty="0">
                          <a:solidFill>
                            <a:srgbClr val="00000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Isolation Forest</a:t>
                      </a:r>
                      <a:endParaRPr lang="en-US" sz="13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dirty="0">
                          <a:solidFill>
                            <a:srgbClr val="00000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~90%</a:t>
                      </a:r>
                      <a:endParaRPr lang="en-US" sz="13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dirty="0">
                          <a:solidFill>
                            <a:srgbClr val="00000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~88%</a:t>
                      </a:r>
                      <a:endParaRPr lang="en-US" sz="13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dirty="0">
                          <a:solidFill>
                            <a:srgbClr val="00000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~4%</a:t>
                      </a:r>
                      <a:endParaRPr lang="en-US" sz="13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dirty="0">
                          <a:solidFill>
                            <a:srgbClr val="00000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Fast</a:t>
                      </a:r>
                      <a:endParaRPr lang="en-US" sz="13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25500">
                <a:tc>
                  <a:txBody>
                    <a:bodyPr/>
                    <a:lstStyle/>
                    <a:p>
                      <a:pPr algn="l"/>
                      <a:r>
                        <a:rPr lang="en-US" sz="1300" dirty="0">
                          <a:solidFill>
                            <a:srgbClr val="00000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Autoencoder</a:t>
                      </a:r>
                      <a:endParaRPr lang="en-US" sz="13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dirty="0">
                          <a:solidFill>
                            <a:srgbClr val="00000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~92%</a:t>
                      </a:r>
                      <a:endParaRPr lang="en-US" sz="13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dirty="0">
                          <a:solidFill>
                            <a:srgbClr val="00000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~90%</a:t>
                      </a:r>
                      <a:endParaRPr lang="en-US" sz="13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dirty="0">
                          <a:solidFill>
                            <a:srgbClr val="00000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~3%</a:t>
                      </a:r>
                      <a:endParaRPr lang="en-US" sz="13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dirty="0">
                          <a:solidFill>
                            <a:srgbClr val="00000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Medium</a:t>
                      </a:r>
                      <a:endParaRPr lang="en-US" sz="13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1524000" y="5016500"/>
            <a:ext cx="13208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600" dirty="0">
                <a:solidFill>
                  <a:srgbClr val="00000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⚠ These are HYPOTHESIZED values based on literature review. Actual results measured during Phase 4.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1016000" y="5715000"/>
            <a:ext cx="381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900" b="1" dirty="0">
                <a:solidFill>
                  <a:srgbClr val="00000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Key Hypotheses:</a:t>
            </a:r>
            <a:endParaRPr lang="en-US" sz="1900" dirty="0"/>
          </a:p>
        </p:txBody>
      </p:sp>
      <p:sp>
        <p:nvSpPr>
          <p:cNvPr id="6" name="Text 3"/>
          <p:cNvSpPr/>
          <p:nvPr/>
        </p:nvSpPr>
        <p:spPr>
          <a:xfrm>
            <a:off x="1270000" y="6159500"/>
            <a:ext cx="13970000" cy="177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85750" indent="-285750">
              <a:lnSpc>
                <a:spcPct val="150000"/>
              </a:lnSpc>
              <a:spcBef>
                <a:spcPts val="10"/>
              </a:spcBef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ML models will significantly outperform static threshold</a:t>
            </a:r>
            <a:endParaRPr lang="en-US" sz="1800" dirty="0"/>
          </a:p>
          <a:p>
            <a:pPr algn="l" marL="285750" indent="-285750">
              <a:lnSpc>
                <a:spcPct val="150000"/>
              </a:lnSpc>
              <a:spcBef>
                <a:spcPts val="10"/>
              </a:spcBef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Autoencoder may have slightly better precision (non-linear patterns)</a:t>
            </a:r>
            <a:endParaRPr lang="en-US" sz="1800" dirty="0"/>
          </a:p>
          <a:p>
            <a:pPr algn="l" marL="285750" indent="-285750">
              <a:lnSpc>
                <a:spcPct val="150000"/>
              </a:lnSpc>
              <a:spcBef>
                <a:spcPts val="10"/>
              </a:spcBef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Isolation Forest will have fastest inference time</a:t>
            </a:r>
            <a:endParaRPr lang="en-US" sz="1800" dirty="0"/>
          </a:p>
        </p:txBody>
      </p:sp>
    </p:spTree>
  </p:cSld>
  <p:clrMapOvr>
    <a:masterClrMapping/>
  </p:clrMapOvr>
  <p:transition>
    <p:fade/>
    <p:spd val="med"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16000" y="635000"/>
            <a:ext cx="6350000" cy="698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4000" dirty="0">
                <a:solidFill>
                  <a:srgbClr val="E00000"/>
                </a:solidFill>
                <a:latin typeface="Unna" pitchFamily="34" charset="0"/>
                <a:ea typeface="Unna" pitchFamily="34" charset="-122"/>
                <a:cs typeface="Unna" pitchFamily="34" charset="-120"/>
              </a:rPr>
              <a:t>Technology Stack</a:t>
            </a:r>
            <a:endParaRPr lang="en-US" sz="40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016000" y="1524000"/>
          <a:ext cx="14224000" cy="6350000"/>
        </p:xfrm>
        <a:graphic>
          <a:graphicData uri="http://schemas.openxmlformats.org/drawingml/2006/table">
            <a:tbl>
              <a:tblPr/>
              <a:tblGrid>
                <a:gridCol w="3982720"/>
                <a:gridCol w="4978400"/>
                <a:gridCol w="5262880"/>
              </a:tblGrid>
              <a:tr h="571500">
                <a:tc>
                  <a:txBody>
                    <a:bodyPr/>
                    <a:lstStyle/>
                    <a:p>
                      <a:pPr algn="ctr"/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Layer</a:t>
                      </a:r>
                      <a:endParaRPr lang="en-US" sz="13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Technology</a:t>
                      </a:r>
                      <a:endParaRPr lang="en-US" sz="13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Purpose</a:t>
                      </a:r>
                      <a:endParaRPr lang="en-US" sz="13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641350">
                <a:tc>
                  <a:txBody>
                    <a:bodyPr/>
                    <a:lstStyle/>
                    <a:p>
                      <a:pPr algn="l"/>
                      <a:r>
                        <a:rPr lang="en-US" sz="1300" dirty="0">
                          <a:solidFill>
                            <a:srgbClr val="00000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API Gateway</a:t>
                      </a:r>
                      <a:endParaRPr lang="en-US" sz="13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00" dirty="0">
                          <a:solidFill>
                            <a:srgbClr val="00000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Spring Boot 3</a:t>
                      </a:r>
                      <a:endParaRPr lang="en-US" sz="13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00" dirty="0">
                          <a:solidFill>
                            <a:srgbClr val="00000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Host APIs + interceptor</a:t>
                      </a:r>
                      <a:endParaRPr lang="en-US" sz="13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1350">
                <a:tc>
                  <a:txBody>
                    <a:bodyPr/>
                    <a:lstStyle/>
                    <a:p>
                      <a:pPr algn="l"/>
                      <a:r>
                        <a:rPr lang="en-US" sz="1300" dirty="0">
                          <a:solidFill>
                            <a:srgbClr val="00000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Traffic Logging</a:t>
                      </a:r>
                      <a:endParaRPr lang="en-US" sz="13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00" dirty="0">
                          <a:solidFill>
                            <a:srgbClr val="00000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Spring Interceptor</a:t>
                      </a:r>
                      <a:endParaRPr lang="en-US" sz="13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00" dirty="0">
                          <a:solidFill>
                            <a:srgbClr val="00000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Capture every request</a:t>
                      </a:r>
                      <a:endParaRPr lang="en-US" sz="13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1350">
                <a:tc>
                  <a:txBody>
                    <a:bodyPr/>
                    <a:lstStyle/>
                    <a:p>
                      <a:pPr algn="l"/>
                      <a:r>
                        <a:rPr lang="en-US" sz="1300" dirty="0">
                          <a:solidFill>
                            <a:srgbClr val="00000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Traffic Simulation</a:t>
                      </a:r>
                      <a:endParaRPr lang="en-US" sz="13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00" dirty="0">
                          <a:solidFill>
                            <a:srgbClr val="00000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Python / Locust</a:t>
                      </a:r>
                      <a:endParaRPr lang="en-US" sz="13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00" dirty="0">
                          <a:solidFill>
                            <a:srgbClr val="00000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Normal + attack traffic generation</a:t>
                      </a:r>
                      <a:endParaRPr lang="en-US" sz="13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1350">
                <a:tc>
                  <a:txBody>
                    <a:bodyPr/>
                    <a:lstStyle/>
                    <a:p>
                      <a:pPr algn="l"/>
                      <a:r>
                        <a:rPr lang="en-US" sz="1300" dirty="0">
                          <a:solidFill>
                            <a:srgbClr val="00000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ML Models</a:t>
                      </a:r>
                      <a:endParaRPr lang="en-US" sz="13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00" dirty="0">
                          <a:solidFill>
                            <a:srgbClr val="00000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scikit-learn, TensorFlow/Keras</a:t>
                      </a:r>
                      <a:endParaRPr lang="en-US" sz="13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00" dirty="0">
                          <a:solidFill>
                            <a:srgbClr val="00000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Isolation Forest + Autoencoder</a:t>
                      </a:r>
                      <a:endParaRPr lang="en-US" sz="13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1350">
                <a:tc>
                  <a:txBody>
                    <a:bodyPr/>
                    <a:lstStyle/>
                    <a:p>
                      <a:pPr algn="l"/>
                      <a:r>
                        <a:rPr lang="en-US" sz="1300" dirty="0">
                          <a:solidFill>
                            <a:srgbClr val="00000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ML Microservice</a:t>
                      </a:r>
                      <a:endParaRPr lang="en-US" sz="13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00" dirty="0">
                          <a:solidFill>
                            <a:srgbClr val="00000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FastAPI (Python)</a:t>
                      </a:r>
                      <a:endParaRPr lang="en-US" sz="13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00" dirty="0">
                          <a:solidFill>
                            <a:srgbClr val="00000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Serve ML predictions</a:t>
                      </a:r>
                      <a:endParaRPr lang="en-US" sz="13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1350">
                <a:tc>
                  <a:txBody>
                    <a:bodyPr/>
                    <a:lstStyle/>
                    <a:p>
                      <a:pPr algn="l"/>
                      <a:r>
                        <a:rPr lang="en-US" sz="1300" dirty="0">
                          <a:solidFill>
                            <a:srgbClr val="00000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Real-time Alerts</a:t>
                      </a:r>
                      <a:endParaRPr lang="en-US" sz="13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00" dirty="0">
                          <a:solidFill>
                            <a:srgbClr val="00000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WebSockets</a:t>
                      </a:r>
                      <a:endParaRPr lang="en-US" sz="13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00" dirty="0">
                          <a:solidFill>
                            <a:srgbClr val="00000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Live dashboard push</a:t>
                      </a:r>
                      <a:endParaRPr lang="en-US" sz="13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1350">
                <a:tc>
                  <a:txBody>
                    <a:bodyPr/>
                    <a:lstStyle/>
                    <a:p>
                      <a:pPr algn="l"/>
                      <a:r>
                        <a:rPr lang="en-US" sz="1300" dirty="0">
                          <a:solidFill>
                            <a:srgbClr val="00000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Frontend</a:t>
                      </a:r>
                      <a:endParaRPr lang="en-US" sz="13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00" dirty="0">
                          <a:solidFill>
                            <a:srgbClr val="00000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React.js</a:t>
                      </a:r>
                      <a:endParaRPr lang="en-US" sz="13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00" dirty="0">
                          <a:solidFill>
                            <a:srgbClr val="00000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Dashboard + graphs</a:t>
                      </a:r>
                      <a:endParaRPr lang="en-US" sz="13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1350">
                <a:tc>
                  <a:txBody>
                    <a:bodyPr/>
                    <a:lstStyle/>
                    <a:p>
                      <a:pPr algn="l"/>
                      <a:r>
                        <a:rPr lang="en-US" sz="1300" dirty="0">
                          <a:solidFill>
                            <a:srgbClr val="00000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Database</a:t>
                      </a:r>
                      <a:endParaRPr lang="en-US" sz="13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00" dirty="0">
                          <a:solidFill>
                            <a:srgbClr val="00000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PostgreSQL</a:t>
                      </a:r>
                      <a:endParaRPr lang="en-US" sz="13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00" dirty="0">
                          <a:solidFill>
                            <a:srgbClr val="00000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Store logs + anomalies</a:t>
                      </a:r>
                      <a:endParaRPr lang="en-US" sz="13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1350">
                <a:tc>
                  <a:txBody>
                    <a:bodyPr/>
                    <a:lstStyle/>
                    <a:p>
                      <a:pPr algn="l"/>
                      <a:r>
                        <a:rPr lang="en-US" sz="1300" dirty="0">
                          <a:solidFill>
                            <a:srgbClr val="00000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Deployment</a:t>
                      </a:r>
                      <a:endParaRPr lang="en-US" sz="13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00" dirty="0">
                          <a:solidFill>
                            <a:srgbClr val="00000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Docker</a:t>
                      </a:r>
                      <a:endParaRPr lang="en-US" sz="13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00" dirty="0">
                          <a:solidFill>
                            <a:srgbClr val="00000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Containerization</a:t>
                      </a:r>
                      <a:endParaRPr lang="en-US" sz="13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>
    <p:fade/>
    <p:spd val="med"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16000" y="635000"/>
            <a:ext cx="8890000" cy="698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4000" dirty="0">
                <a:solidFill>
                  <a:srgbClr val="E00000"/>
                </a:solidFill>
                <a:latin typeface="Unna" pitchFamily="34" charset="0"/>
                <a:ea typeface="Unna" pitchFamily="34" charset="-122"/>
                <a:cs typeface="Unna" pitchFamily="34" charset="-120"/>
              </a:rPr>
              <a:t>Team Roles &amp; Responsibilities</a:t>
            </a:r>
            <a:endParaRPr lang="en-US" sz="40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016000" y="1587500"/>
          <a:ext cx="14224000" cy="5334000"/>
        </p:xfrm>
        <a:graphic>
          <a:graphicData uri="http://schemas.openxmlformats.org/drawingml/2006/table">
            <a:tbl>
              <a:tblPr/>
              <a:tblGrid>
                <a:gridCol w="2844800"/>
                <a:gridCol w="11379200"/>
              </a:tblGrid>
              <a:tr h="640080">
                <a:tc>
                  <a:txBody>
                    <a:bodyPr/>
                    <a:lstStyle/>
                    <a:p>
                      <a:pPr algn="ctr"/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Member</a:t>
                      </a:r>
                      <a:endParaRPr lang="en-US" sz="13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Responsibility</a:t>
                      </a:r>
                      <a:endParaRPr lang="en-US" sz="13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1562862">
                <a:tc>
                  <a:txBody>
                    <a:bodyPr/>
                    <a:lstStyle/>
                    <a:p>
                      <a:pPr algn="ctr"/>
                      <a:r>
                        <a:rPr lang="en-US" sz="1300" dirty="0">
                          <a:solidFill>
                            <a:srgbClr val="00000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Person A</a:t>
                      </a:r>
                      <a:endParaRPr lang="en-US" sz="13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marL="206375" indent="-206375">
                        <a:spcBef>
                          <a:spcPts val="10"/>
                        </a:spcBef>
                        <a:buSzPct val="100000"/>
                        <a:buChar char="•"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Spring Boot interceptor / logging setup</a:t>
                      </a:r>
                      <a:endParaRPr lang="en-US" sz="13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  <a:p>
                      <a:pPr algn="l" marL="206375" indent="-206375">
                        <a:spcBef>
                          <a:spcPts val="10"/>
                        </a:spcBef>
                        <a:buSzPct val="100000"/>
                        <a:buChar char="•"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Traffic generator script (Locust/Python)</a:t>
                      </a:r>
                      <a:endParaRPr lang="en-US" sz="13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  <a:p>
                      <a:pPr algn="l" marL="206375" indent="-206375">
                        <a:spcBef>
                          <a:spcPts val="10"/>
                        </a:spcBef>
                        <a:buSzPct val="100000"/>
                        <a:buChar char="•"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Spring Boot ↔ FastAPI integration</a:t>
                      </a:r>
                      <a:endParaRPr lang="en-US" sz="13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  <a:p>
                      <a:pPr algn="l" marL="206375" indent="-206375">
                        <a:spcBef>
                          <a:spcPts val="10"/>
                        </a:spcBef>
                        <a:buSzPct val="100000"/>
                        <a:buChar char="•"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Database schema &amp; data pipeline</a:t>
                      </a:r>
                      <a:endParaRPr lang="en-US" sz="13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562862">
                <a:tc>
                  <a:txBody>
                    <a:bodyPr/>
                    <a:lstStyle/>
                    <a:p>
                      <a:pPr algn="ctr"/>
                      <a:r>
                        <a:rPr lang="en-US" sz="1300" dirty="0">
                          <a:solidFill>
                            <a:srgbClr val="00000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Person B</a:t>
                      </a:r>
                      <a:endParaRPr lang="en-US" sz="13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marL="206375" indent="-206375">
                        <a:spcBef>
                          <a:spcPts val="10"/>
                        </a:spcBef>
                        <a:buSzPct val="100000"/>
                        <a:buChar char="•"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Isolation Forest model training &amp; tuning</a:t>
                      </a:r>
                      <a:endParaRPr lang="en-US" sz="13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  <a:p>
                      <a:pPr algn="l" marL="206375" indent="-206375">
                        <a:spcBef>
                          <a:spcPts val="10"/>
                        </a:spcBef>
                        <a:buSzPct val="100000"/>
                        <a:buChar char="•"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Autoencoder model training &amp; tuning</a:t>
                      </a:r>
                      <a:endParaRPr lang="en-US" sz="13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  <a:p>
                      <a:pPr algn="l" marL="206375" indent="-206375">
                        <a:spcBef>
                          <a:spcPts val="10"/>
                        </a:spcBef>
                        <a:buSzPct val="100000"/>
                        <a:buChar char="•"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Static threshold implementation</a:t>
                      </a:r>
                      <a:endParaRPr lang="en-US" sz="13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  <a:p>
                      <a:pPr algn="l" marL="206375" indent="-206375">
                        <a:spcBef>
                          <a:spcPts val="10"/>
                        </a:spcBef>
                        <a:buSzPct val="100000"/>
                        <a:buChar char="•"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Evaluation metrics &amp; comparison study</a:t>
                      </a:r>
                      <a:endParaRPr lang="en-US" sz="13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568196">
                <a:tc>
                  <a:txBody>
                    <a:bodyPr/>
                    <a:lstStyle/>
                    <a:p>
                      <a:pPr algn="ctr"/>
                      <a:r>
                        <a:rPr lang="en-US" sz="1300" dirty="0">
                          <a:solidFill>
                            <a:srgbClr val="00000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Person C</a:t>
                      </a:r>
                      <a:endParaRPr lang="en-US" sz="13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marL="206375" indent="-206375">
                        <a:spcBef>
                          <a:spcPts val="10"/>
                        </a:spcBef>
                        <a:buSzPct val="100000"/>
                        <a:buChar char="•"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React dashboard development</a:t>
                      </a:r>
                      <a:endParaRPr lang="en-US" sz="13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  <a:p>
                      <a:pPr algn="l" marL="206375" indent="-206375">
                        <a:spcBef>
                          <a:spcPts val="10"/>
                        </a:spcBef>
                        <a:buSzPct val="100000"/>
                        <a:buChar char="•"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WebSocket real-time alert integration</a:t>
                      </a:r>
                      <a:endParaRPr lang="en-US" sz="13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  <a:p>
                      <a:pPr algn="l" marL="206375" indent="-206375">
                        <a:spcBef>
                          <a:spcPts val="10"/>
                        </a:spcBef>
                        <a:buSzPct val="100000"/>
                        <a:buChar char="•"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IEEE research paper writing &amp; formatting</a:t>
                      </a:r>
                      <a:endParaRPr lang="en-US" sz="13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  <a:p>
                      <a:pPr algn="l" marL="206375" indent="-206375">
                        <a:spcBef>
                          <a:spcPts val="10"/>
                        </a:spcBef>
                        <a:buSzPct val="100000"/>
                        <a:buChar char="•"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Documentation &amp; presentation</a:t>
                      </a:r>
                      <a:endParaRPr lang="en-US" sz="13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>
    <p:fade/>
    <p:spd val="med"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16000" y="635000"/>
            <a:ext cx="8890000" cy="698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4000" dirty="0">
                <a:solidFill>
                  <a:srgbClr val="E00000"/>
                </a:solidFill>
                <a:latin typeface="Unna" pitchFamily="34" charset="0"/>
                <a:ea typeface="Unna" pitchFamily="34" charset="-122"/>
                <a:cs typeface="Unna" pitchFamily="34" charset="-120"/>
              </a:rPr>
              <a:t>Conclusion &amp; Future Scope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1016000" y="1524000"/>
            <a:ext cx="381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000" b="1" dirty="0">
                <a:solidFill>
                  <a:srgbClr val="00000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Conclusion: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270000" y="2006600"/>
            <a:ext cx="13970000" cy="254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85750" indent="-285750">
              <a:lnSpc>
                <a:spcPct val="150000"/>
              </a:lnSpc>
              <a:spcBef>
                <a:spcPts val="10"/>
              </a:spcBef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MicroAPI Guard provides an intelligent, adaptive alternative to static rate limiting for API security</a:t>
            </a:r>
            <a:endParaRPr lang="en-US" sz="1800" dirty="0"/>
          </a:p>
          <a:p>
            <a:pPr algn="l" marL="285750" indent="-285750">
              <a:lnSpc>
                <a:spcPct val="150000"/>
              </a:lnSpc>
              <a:spcBef>
                <a:spcPts val="10"/>
              </a:spcBef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3-way comparison (IF vs AE vs Static) addresses a clear gap in existing literature</a:t>
            </a:r>
            <a:endParaRPr lang="en-US" sz="1800" dirty="0"/>
          </a:p>
          <a:p>
            <a:pPr algn="l" marL="285750" indent="-285750">
              <a:lnSpc>
                <a:spcPct val="150000"/>
              </a:lnSpc>
              <a:spcBef>
                <a:spcPts val="10"/>
              </a:spcBef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Lightweight architecture — deployable without Kafka/Flink</a:t>
            </a:r>
            <a:endParaRPr lang="en-US" sz="1800" dirty="0"/>
          </a:p>
          <a:p>
            <a:pPr algn="l" marL="285750" indent="-285750">
              <a:lnSpc>
                <a:spcPct val="150000"/>
              </a:lnSpc>
              <a:spcBef>
                <a:spcPts val="10"/>
              </a:spcBef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Real-time detection with WebSocket live alerting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016000" y="4826000"/>
            <a:ext cx="381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000" b="1" dirty="0">
                <a:solidFill>
                  <a:srgbClr val="00000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Future Scope: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270000" y="5308600"/>
            <a:ext cx="13970000" cy="292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85750" indent="-285750">
              <a:lnSpc>
                <a:spcPct val="150000"/>
              </a:lnSpc>
              <a:spcBef>
                <a:spcPts val="10"/>
              </a:spcBef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LSTM integration for sequential pattern detection</a:t>
            </a:r>
            <a:endParaRPr lang="en-US" sz="1800" dirty="0"/>
          </a:p>
          <a:p>
            <a:pPr algn="l" marL="285750" indent="-285750">
              <a:lnSpc>
                <a:spcPct val="150000"/>
              </a:lnSpc>
              <a:spcBef>
                <a:spcPts val="10"/>
              </a:spcBef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Feedback loop — learn from confirmed false positives</a:t>
            </a:r>
            <a:endParaRPr lang="en-US" sz="1800" dirty="0"/>
          </a:p>
          <a:p>
            <a:pPr algn="l" marL="285750" indent="-285750">
              <a:lnSpc>
                <a:spcPct val="150000"/>
              </a:lnSpc>
              <a:spcBef>
                <a:spcPts val="10"/>
              </a:spcBef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Concept drift handling — automatic model retraining</a:t>
            </a:r>
            <a:endParaRPr lang="en-US" sz="1800" dirty="0"/>
          </a:p>
          <a:p>
            <a:pPr algn="l" marL="285750" indent="-285750">
              <a:lnSpc>
                <a:spcPct val="150000"/>
              </a:lnSpc>
              <a:spcBef>
                <a:spcPts val="10"/>
              </a:spcBef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Multi-cluster deployment for distributed microservices</a:t>
            </a:r>
            <a:endParaRPr lang="en-US" sz="1800" dirty="0"/>
          </a:p>
          <a:p>
            <a:pPr algn="l" marL="285750" indent="-285750">
              <a:lnSpc>
                <a:spcPct val="150000"/>
              </a:lnSpc>
              <a:spcBef>
                <a:spcPts val="10"/>
              </a:spcBef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Explainable AI (XAI) integration for alert reasoning</a:t>
            </a:r>
            <a:endParaRPr lang="en-US" sz="1800" dirty="0"/>
          </a:p>
          <a:p>
            <a:pPr algn="l" marL="285750" indent="-285750">
              <a:lnSpc>
                <a:spcPct val="150000"/>
              </a:lnSpc>
              <a:spcBef>
                <a:spcPts val="10"/>
              </a:spcBef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Zero-Trust architecture alignment</a:t>
            </a:r>
            <a:endParaRPr lang="en-US" sz="1800" dirty="0"/>
          </a:p>
        </p:txBody>
      </p:sp>
    </p:spTree>
  </p:cSld>
  <p:clrMapOvr>
    <a:masterClrMapping/>
  </p:clrMapOvr>
  <p:transition>
    <p:fade/>
    <p:spd val="med"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16000" y="444500"/>
            <a:ext cx="508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4000" dirty="0">
                <a:solidFill>
                  <a:srgbClr val="E00000"/>
                </a:solidFill>
                <a:latin typeface="Unna" pitchFamily="34" charset="0"/>
                <a:ea typeface="Unna" pitchFamily="34" charset="-122"/>
                <a:cs typeface="Unna" pitchFamily="34" charset="-120"/>
              </a:rPr>
              <a:t>References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762000" y="1143000"/>
            <a:ext cx="14732000" cy="749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5000"/>
              </a:lnSpc>
            </a:pPr>
            <a:r>
              <a:rPr lang="en-US" sz="1300" dirty="0">
                <a:solidFill>
                  <a:srgbClr val="00000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[1] Liu et al., "Isolation-based anomaly detection," ACM TKDD, 2012/2020.</a:t>
            </a:r>
            <a:endParaRPr lang="en-US" sz="1300" dirty="0"/>
          </a:p>
          <a:p>
            <a:pPr algn="l">
              <a:lnSpc>
                <a:spcPct val="155000"/>
              </a:lnSpc>
            </a:pPr>
            <a:r>
              <a:rPr lang="en-US" sz="1300" dirty="0">
                <a:solidFill>
                  <a:srgbClr val="00000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[2] Ahmed &amp; Khan, "Unsupervised anomaly detection in REST API logs using isolation forest," IEEE Access, 2021.</a:t>
            </a:r>
            <a:endParaRPr lang="en-US" sz="1300" dirty="0"/>
          </a:p>
          <a:p>
            <a:pPr algn="l">
              <a:lnSpc>
                <a:spcPct val="155000"/>
              </a:lnSpc>
            </a:pPr>
            <a:r>
              <a:rPr lang="en-US" sz="1300" dirty="0">
                <a:solidFill>
                  <a:srgbClr val="00000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[3] Zhang &amp; Wang, "Autoencoder-based intrusion detection for HTTP traffic," IEEE Trans. IFS, 2022.</a:t>
            </a:r>
            <a:endParaRPr lang="en-US" sz="1300" dirty="0"/>
          </a:p>
          <a:p>
            <a:pPr algn="l">
              <a:lnSpc>
                <a:spcPct val="155000"/>
              </a:lnSpc>
            </a:pPr>
            <a:r>
              <a:rPr lang="en-US" sz="1300" dirty="0">
                <a:solidFill>
                  <a:srgbClr val="00000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[4] Kumar &amp; Reddy, "Feature engineering for API anomaly detection — a survey," 2022.</a:t>
            </a:r>
            <a:endParaRPr lang="en-US" sz="1300" dirty="0"/>
          </a:p>
          <a:p>
            <a:pPr algn="l">
              <a:lnSpc>
                <a:spcPct val="155000"/>
              </a:lnSpc>
            </a:pPr>
            <a:r>
              <a:rPr lang="en-US" sz="1300" dirty="0">
                <a:solidFill>
                  <a:srgbClr val="00000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[5] Patel &amp; Sharma, "Rate limiting vs ML-based detection in microservices," IEEE IoT Journal, 2023.</a:t>
            </a:r>
            <a:endParaRPr lang="en-US" sz="1300" dirty="0"/>
          </a:p>
          <a:p>
            <a:pPr algn="l">
              <a:lnSpc>
                <a:spcPct val="155000"/>
              </a:lnSpc>
            </a:pPr>
            <a:r>
              <a:rPr lang="en-US" sz="1300" dirty="0">
                <a:solidFill>
                  <a:srgbClr val="00000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[6] Sowmya M. et al., "API traffic anomaly detection in microservice architecture," IEEE/ACM CCGridW, 2023.</a:t>
            </a:r>
            <a:endParaRPr lang="en-US" sz="1300" dirty="0"/>
          </a:p>
          <a:p>
            <a:pPr algn="l">
              <a:lnSpc>
                <a:spcPct val="155000"/>
              </a:lnSpc>
            </a:pPr>
            <a:r>
              <a:rPr lang="en-US" sz="1300" dirty="0">
                <a:solidFill>
                  <a:srgbClr val="00000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[7] "CNN-Autoencoder hybrid for anomaly classification," 2024.</a:t>
            </a:r>
            <a:endParaRPr lang="en-US" sz="1300" dirty="0"/>
          </a:p>
          <a:p>
            <a:pPr algn="l">
              <a:lnSpc>
                <a:spcPct val="155000"/>
              </a:lnSpc>
            </a:pPr>
            <a:r>
              <a:rPr lang="en-US" sz="1300" dirty="0">
                <a:solidFill>
                  <a:srgbClr val="00000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[8] "GCN-LSTM-Autoencoder for temporal anomaly detection," ETASR, 2024.</a:t>
            </a:r>
            <a:endParaRPr lang="en-US" sz="1300" dirty="0"/>
          </a:p>
          <a:p>
            <a:pPr algn="l">
              <a:lnSpc>
                <a:spcPct val="155000"/>
              </a:lnSpc>
            </a:pPr>
            <a:r>
              <a:rPr lang="en-US" sz="1300" dirty="0">
                <a:solidFill>
                  <a:srgbClr val="00000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[9] "Optimizing autoencoders for network anomaly detection," IEEE IJCNN, 2024.</a:t>
            </a:r>
            <a:endParaRPr lang="en-US" sz="1300" dirty="0"/>
          </a:p>
          <a:p>
            <a:pPr algn="l">
              <a:lnSpc>
                <a:spcPct val="155000"/>
              </a:lnSpc>
            </a:pPr>
            <a:r>
              <a:rPr lang="en-US" sz="1300" dirty="0">
                <a:solidFill>
                  <a:srgbClr val="00000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[10] "ML models for anomaly detection in microservices," 2024.</a:t>
            </a:r>
            <a:endParaRPr lang="en-US" sz="1300" dirty="0"/>
          </a:p>
          <a:p>
            <a:pPr algn="l">
              <a:lnSpc>
                <a:spcPct val="155000"/>
              </a:lnSpc>
            </a:pPr>
            <a:r>
              <a:rPr lang="en-US" sz="1300" dirty="0">
                <a:solidFill>
                  <a:srgbClr val="00000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[11] "Adaptive API gateway with reinforcement learning," IJSRA, 2024.</a:t>
            </a:r>
            <a:endParaRPr lang="en-US" sz="1300" dirty="0"/>
          </a:p>
          <a:p>
            <a:pPr algn="l">
              <a:lnSpc>
                <a:spcPct val="155000"/>
              </a:lnSpc>
            </a:pPr>
            <a:r>
              <a:rPr lang="en-US" sz="1300" dirty="0">
                <a:solidFill>
                  <a:srgbClr val="00000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[12] "Preference isolation forest for high-dimensional spaces," arXiv, 2025.</a:t>
            </a:r>
            <a:endParaRPr lang="en-US" sz="1300" dirty="0"/>
          </a:p>
          <a:p>
            <a:pPr algn="l">
              <a:lnSpc>
                <a:spcPct val="155000"/>
              </a:lnSpc>
            </a:pPr>
            <a:r>
              <a:rPr lang="en-US" sz="1300" dirty="0">
                <a:solidFill>
                  <a:srgbClr val="00000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[13] "AI-driven real-time log anomaly detection," 2025.</a:t>
            </a:r>
            <a:endParaRPr lang="en-US" sz="1300" dirty="0"/>
          </a:p>
          <a:p>
            <a:pPr algn="l">
              <a:lnSpc>
                <a:spcPct val="155000"/>
              </a:lnSpc>
            </a:pPr>
            <a:r>
              <a:rPr lang="en-US" sz="1300" dirty="0">
                <a:solidFill>
                  <a:srgbClr val="00000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[14] Bagade et al., "ObserveX: Real-time API observability &amp; anomaly detection," IJSDR, Nov 2025.</a:t>
            </a:r>
            <a:endParaRPr lang="en-US" sz="1300" dirty="0"/>
          </a:p>
          <a:p>
            <a:pPr algn="l">
              <a:lnSpc>
                <a:spcPct val="155000"/>
              </a:lnSpc>
            </a:pPr>
            <a:r>
              <a:rPr lang="en-US" sz="1300" dirty="0">
                <a:solidFill>
                  <a:srgbClr val="00000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[15] "Multi-level ensemble anomaly detection for microservices," 2026.</a:t>
            </a:r>
            <a:endParaRPr lang="en-US" sz="1300" dirty="0"/>
          </a:p>
        </p:txBody>
      </p:sp>
    </p:spTree>
  </p:cSld>
  <p:clrMapOvr>
    <a:masterClrMapping/>
  </p:clrMapOvr>
  <p:transition>
    <p:fade/>
    <p:spd val="med"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MicroAPI Guard — AI-Based Anomaly Detection System for API Traffic</dc:title>
  <dc:subject>MicroAPI Guard — AI-Based Anomaly Detection System for API Traffic</dc:subject>
  <dc:creator>Kimi</dc:creator>
  <cp:lastModifiedBy>Kimi</cp:lastModifiedBy>
  <cp:revision>1</cp:revision>
  <dcterms:created xsi:type="dcterms:W3CDTF">2026-06-24T03:40:59Z</dcterms:created>
  <dcterms:modified xsi:type="dcterms:W3CDTF">2026-06-24T03:40:59Z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4" name="AIGC">
    <vt:lpwstr>{"Label":"MicroAPI Guard — AI-Based Anomaly Detection System for API Traffic","ContentProducer":"001191110108MACG2KBH8F10000","ProduceID":"19ef7acd-b402-82a9-8000-000040e2ee29","ReservedCode1":"","ContentPropagator":"001191110108MACG2KBH8F20000","PropagateID":"19edc2b6-2b32-8a34-8000-09f93366153a","ReservedCode2":""}</vt:lpwstr>
  </property>
</Properties>
</file>